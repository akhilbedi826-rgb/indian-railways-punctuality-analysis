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4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1.xml" ContentType="application/vnd.openxmlformats-officedocument.drawingml.chart+xml"/>
  <Override PartName="/ppt/notesSlides/notesSlide17.xml" ContentType="application/vnd.openxmlformats-officedocument.presentationml.notesSlide+xml"/>
  <Override PartName="/ppt/charts/chart12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9" r:id="rId9"/>
    <p:sldId id="280" r:id="rId10"/>
    <p:sldId id="264" r:id="rId11"/>
    <p:sldId id="265" r:id="rId12"/>
    <p:sldId id="266" r:id="rId13"/>
    <p:sldId id="281" r:id="rId14"/>
    <p:sldId id="267" r:id="rId15"/>
    <p:sldId id="282" r:id="rId16"/>
    <p:sldId id="268" r:id="rId17"/>
    <p:sldId id="269" r:id="rId18"/>
    <p:sldId id="270" r:id="rId19"/>
    <p:sldId id="283" r:id="rId20"/>
    <p:sldId id="271" r:id="rId21"/>
    <p:sldId id="272" r:id="rId22"/>
    <p:sldId id="273" r:id="rId23"/>
    <p:sldId id="274" r:id="rId24"/>
    <p:sldId id="276" r:id="rId25"/>
    <p:sldId id="277" r:id="rId26"/>
    <p:sldId id="275" r:id="rId27"/>
    <p:sldId id="278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hil singh" userId="2f331d4cf092cbd3" providerId="LiveId" clId="{FD11DAF6-94A6-4F81-B372-FBEF7AA3616C}"/>
    <pc:docChg chg="custSel modSld sldOrd">
      <pc:chgData name="akhil singh" userId="2f331d4cf092cbd3" providerId="LiveId" clId="{FD11DAF6-94A6-4F81-B372-FBEF7AA3616C}" dt="2026-07-04T07:18:51.884" v="189" actId="20577"/>
      <pc:docMkLst>
        <pc:docMk/>
      </pc:docMkLst>
      <pc:sldChg chg="ord">
        <pc:chgData name="akhil singh" userId="2f331d4cf092cbd3" providerId="LiveId" clId="{FD11DAF6-94A6-4F81-B372-FBEF7AA3616C}" dt="2026-07-04T07:15:02.303" v="1"/>
        <pc:sldMkLst>
          <pc:docMk/>
          <pc:sldMk cId="0" sldId="276"/>
        </pc:sldMkLst>
      </pc:sldChg>
      <pc:sldChg chg="ord">
        <pc:chgData name="akhil singh" userId="2f331d4cf092cbd3" providerId="LiveId" clId="{FD11DAF6-94A6-4F81-B372-FBEF7AA3616C}" dt="2026-07-04T07:15:04.350" v="3"/>
        <pc:sldMkLst>
          <pc:docMk/>
          <pc:sldMk cId="0" sldId="277"/>
        </pc:sldMkLst>
      </pc:sldChg>
      <pc:sldChg chg="delSp modSp mod">
        <pc:chgData name="akhil singh" userId="2f331d4cf092cbd3" providerId="LiveId" clId="{FD11DAF6-94A6-4F81-B372-FBEF7AA3616C}" dt="2026-07-04T07:18:51.884" v="189" actId="20577"/>
        <pc:sldMkLst>
          <pc:docMk/>
          <pc:sldMk cId="0" sldId="278"/>
        </pc:sldMkLst>
        <pc:spChg chg="mod">
          <ac:chgData name="akhil singh" userId="2f331d4cf092cbd3" providerId="LiveId" clId="{FD11DAF6-94A6-4F81-B372-FBEF7AA3616C}" dt="2026-07-04T07:18:10.576" v="53" actId="20577"/>
          <ac:spMkLst>
            <pc:docMk/>
            <pc:sldMk cId="0" sldId="278"/>
            <ac:spMk id="5" creationId="{00000000-0000-0000-0000-000000000000}"/>
          </ac:spMkLst>
        </pc:spChg>
        <pc:spChg chg="mod">
          <ac:chgData name="akhil singh" userId="2f331d4cf092cbd3" providerId="LiveId" clId="{FD11DAF6-94A6-4F81-B372-FBEF7AA3616C}" dt="2026-07-04T07:18:02.152" v="39" actId="14100"/>
          <ac:spMkLst>
            <pc:docMk/>
            <pc:sldMk cId="0" sldId="278"/>
            <ac:spMk id="7" creationId="{00000000-0000-0000-0000-000000000000}"/>
          </ac:spMkLst>
        </pc:spChg>
        <pc:spChg chg="mod">
          <ac:chgData name="akhil singh" userId="2f331d4cf092cbd3" providerId="LiveId" clId="{FD11DAF6-94A6-4F81-B372-FBEF7AA3616C}" dt="2026-07-04T07:18:24.418" v="54" actId="255"/>
          <ac:spMkLst>
            <pc:docMk/>
            <pc:sldMk cId="0" sldId="278"/>
            <ac:spMk id="9" creationId="{00000000-0000-0000-0000-000000000000}"/>
          </ac:spMkLst>
        </pc:spChg>
        <pc:spChg chg="del">
          <ac:chgData name="akhil singh" userId="2f331d4cf092cbd3" providerId="LiveId" clId="{FD11DAF6-94A6-4F81-B372-FBEF7AA3616C}" dt="2026-07-04T07:17:26.912" v="5" actId="478"/>
          <ac:spMkLst>
            <pc:docMk/>
            <pc:sldMk cId="0" sldId="278"/>
            <ac:spMk id="10" creationId="{00000000-0000-0000-0000-000000000000}"/>
          </ac:spMkLst>
        </pc:spChg>
        <pc:spChg chg="mod">
          <ac:chgData name="akhil singh" userId="2f331d4cf092cbd3" providerId="LiveId" clId="{FD11DAF6-94A6-4F81-B372-FBEF7AA3616C}" dt="2026-07-04T07:17:53.755" v="37" actId="20577"/>
          <ac:spMkLst>
            <pc:docMk/>
            <pc:sldMk cId="0" sldId="278"/>
            <ac:spMk id="11" creationId="{00000000-0000-0000-0000-000000000000}"/>
          </ac:spMkLst>
        </pc:spChg>
        <pc:spChg chg="mod">
          <ac:chgData name="akhil singh" userId="2f331d4cf092cbd3" providerId="LiveId" clId="{FD11DAF6-94A6-4F81-B372-FBEF7AA3616C}" dt="2026-07-04T07:17:42.146" v="6" actId="20577"/>
          <ac:spMkLst>
            <pc:docMk/>
            <pc:sldMk cId="0" sldId="278"/>
            <ac:spMk id="12" creationId="{00000000-0000-0000-0000-000000000000}"/>
          </ac:spMkLst>
        </pc:spChg>
        <pc:spChg chg="mod">
          <ac:chgData name="akhil singh" userId="2f331d4cf092cbd3" providerId="LiveId" clId="{FD11DAF6-94A6-4F81-B372-FBEF7AA3616C}" dt="2026-07-04T07:18:51.884" v="189" actId="20577"/>
          <ac:spMkLst>
            <pc:docMk/>
            <pc:sldMk cId="0" sldId="278"/>
            <ac:spMk id="1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Delay 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F45-4087-8853-B683C9564926}"/>
              </c:ext>
            </c:extLst>
          </c:dPt>
          <c:dPt>
            <c:idx val="1"/>
            <c:bubble3D val="0"/>
            <c:spPr>
              <a:solidFill>
                <a:srgbClr val="F4C4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F45-4087-8853-B683C9564926}"/>
              </c:ext>
            </c:extLst>
          </c:dPt>
          <c:dPt>
            <c:idx val="2"/>
            <c:bubble3D val="0"/>
            <c:spPr>
              <a:solidFill>
                <a:srgbClr val="E889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F45-4087-8853-B683C9564926}"/>
              </c:ext>
            </c:extLst>
          </c:dPt>
          <c:dPt>
            <c:idx val="3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F45-4087-8853-B683C9564926}"/>
              </c:ext>
            </c:extLst>
          </c:dPt>
          <c:dPt>
            <c:idx val="4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F45-4087-8853-B683C956492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F45-4087-8853-B683C956492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F45-4087-8853-B683C956492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F45-4087-8853-B683C9564926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F45-4087-8853-B683C9564926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F45-4087-8853-B683C956492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On Time</c:v>
                </c:pt>
                <c:pt idx="1">
                  <c:v>Marginal (&lt;5 min)</c:v>
                </c:pt>
                <c:pt idx="2">
                  <c:v>Slight (5–15 min)</c:v>
                </c:pt>
                <c:pt idx="3">
                  <c:v>Moderate (15–60 min)</c:v>
                </c:pt>
                <c:pt idx="4">
                  <c:v>Severe (&gt;60 min)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</c:v>
                </c:pt>
                <c:pt idx="1">
                  <c:v>18</c:v>
                </c:pt>
                <c:pt idx="2">
                  <c:v>22</c:v>
                </c:pt>
                <c:pt idx="3">
                  <c:v>18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F45-4087-8853-B683C9564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8EA8B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32A4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 (min)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9C9-4368-8A68-03F2683C941D}"/>
              </c:ext>
            </c:extLst>
          </c:dPt>
          <c:dPt>
            <c:idx val="1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9C9-4368-8A68-03F2683C941D}"/>
              </c:ext>
            </c:extLst>
          </c:dPt>
          <c:dPt>
            <c:idx val="2"/>
            <c:invertIfNegative val="0"/>
            <c:bubble3D val="0"/>
            <c:spPr>
              <a:solidFill>
                <a:srgbClr val="F4C4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9C9-4368-8A68-03F2683C941D}"/>
              </c:ext>
            </c:extLst>
          </c:dPt>
          <c:dPt>
            <c:idx val="3"/>
            <c:invertIfNegative val="0"/>
            <c:bubble3D val="0"/>
            <c:spPr>
              <a:solidFill>
                <a:srgbClr val="E889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9C9-4368-8A68-03F2683C941D}"/>
              </c:ext>
            </c:extLst>
          </c:dPt>
          <c:dPt>
            <c:idx val="4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9C9-4368-8A68-03F2683C941D}"/>
              </c:ext>
            </c:extLst>
          </c:dPt>
          <c:dPt>
            <c:idx val="5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9C9-4368-8A68-03F2683C941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Vande Bharat</c:v>
                </c:pt>
                <c:pt idx="1">
                  <c:v>Rajdhani</c:v>
                </c:pt>
                <c:pt idx="2">
                  <c:v>Shatabdi</c:v>
                </c:pt>
                <c:pt idx="3">
                  <c:v>Superfast</c:v>
                </c:pt>
                <c:pt idx="4">
                  <c:v>Mail/Express</c:v>
                </c:pt>
                <c:pt idx="5">
                  <c:v>Passenger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4.2</c:v>
                </c:pt>
                <c:pt idx="1">
                  <c:v>6.8</c:v>
                </c:pt>
                <c:pt idx="2">
                  <c:v>7.5</c:v>
                </c:pt>
                <c:pt idx="3">
                  <c:v>11.3</c:v>
                </c:pt>
                <c:pt idx="4">
                  <c:v>14.6</c:v>
                </c:pt>
                <c:pt idx="5">
                  <c:v>18.899999999999999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9C9-4368-8A68-03F2683C94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C3D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A4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 (min)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06C-44B5-AE80-033115968AA1}"/>
              </c:ext>
            </c:extLst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06C-44B5-AE80-033115968AA1}"/>
              </c:ext>
            </c:extLst>
          </c:dPt>
          <c:dPt>
            <c:idx val="2"/>
            <c:invertIfNegative val="0"/>
            <c:bubble3D val="0"/>
            <c:spPr>
              <a:solidFill>
                <a:srgbClr val="E889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06C-44B5-AE80-033115968AA1}"/>
              </c:ext>
            </c:extLst>
          </c:dPt>
          <c:dPt>
            <c:idx val="3"/>
            <c:invertIfNegative val="0"/>
            <c:bubble3D val="0"/>
            <c:spPr>
              <a:solidFill>
                <a:srgbClr val="F4C4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06C-44B5-AE80-033115968AA1}"/>
              </c:ext>
            </c:extLst>
          </c:dPt>
          <c:dPt>
            <c:idx val="4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06C-44B5-AE80-033115968AA1}"/>
              </c:ext>
            </c:extLst>
          </c:dPt>
          <c:dPt>
            <c:idx val="5"/>
            <c:invertIfNegative val="0"/>
            <c:bubble3D val="0"/>
            <c:spPr>
              <a:solidFill>
                <a:srgbClr val="1E84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06C-44B5-AE80-033115968AA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North</c:v>
                </c:pt>
                <c:pt idx="1">
                  <c:v>East</c:v>
                </c:pt>
                <c:pt idx="2">
                  <c:v>Northeast</c:v>
                </c:pt>
                <c:pt idx="3">
                  <c:v>Central</c:v>
                </c:pt>
                <c:pt idx="4">
                  <c:v>West</c:v>
                </c:pt>
                <c:pt idx="5">
                  <c:v>South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17.8</c:v>
                </c:pt>
                <c:pt idx="1">
                  <c:v>15.6</c:v>
                </c:pt>
                <c:pt idx="2">
                  <c:v>13.2</c:v>
                </c:pt>
                <c:pt idx="3">
                  <c:v>11.4</c:v>
                </c:pt>
                <c:pt idx="4">
                  <c:v>9.8000000000000007</c:v>
                </c:pt>
                <c:pt idx="5">
                  <c:v>8.1999999999999993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06C-44B5-AE80-033115968AA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C3D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A4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 (min)</c:v>
                </c:pt>
              </c:strCache>
            </c:strRef>
          </c:tx>
          <c:spPr>
            <a:solidFill>
              <a:srgbClr val="E8891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NR</c:v>
                </c:pt>
                <c:pt idx="1">
                  <c:v>ER</c:v>
                </c:pt>
                <c:pt idx="2">
                  <c:v>NFR</c:v>
                </c:pt>
                <c:pt idx="3">
                  <c:v>CR</c:v>
                </c:pt>
                <c:pt idx="4">
                  <c:v>WR</c:v>
                </c:pt>
                <c:pt idx="5">
                  <c:v>SR</c:v>
                </c:pt>
                <c:pt idx="6">
                  <c:v>SCR</c:v>
                </c:pt>
                <c:pt idx="7">
                  <c:v>ECR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19.100000000000001</c:v>
                </c:pt>
                <c:pt idx="1">
                  <c:v>16.3</c:v>
                </c:pt>
                <c:pt idx="2">
                  <c:v>14.8</c:v>
                </c:pt>
                <c:pt idx="3">
                  <c:v>12.2</c:v>
                </c:pt>
                <c:pt idx="4">
                  <c:v>10.5</c:v>
                </c:pt>
                <c:pt idx="5">
                  <c:v>8.9</c:v>
                </c:pt>
                <c:pt idx="6">
                  <c:v>8.1</c:v>
                </c:pt>
                <c:pt idx="7">
                  <c:v>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B5-4E92-97D9-BAFB8387CF2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3D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A4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 (min)</c:v>
                </c:pt>
              </c:strCache>
            </c:strRef>
          </c:tx>
          <c:spPr>
            <a:ln w="31750" cap="flat">
              <a:solidFill>
                <a:srgbClr val="E8891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891A"/>
              </a:solidFill>
              <a:ln w="9525" cap="flat">
                <a:solidFill>
                  <a:srgbClr val="E8891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16.2</c:v>
                </c:pt>
                <c:pt idx="1">
                  <c:v>14.8</c:v>
                </c:pt>
                <c:pt idx="2">
                  <c:v>11.3</c:v>
                </c:pt>
                <c:pt idx="3">
                  <c:v>9.6</c:v>
                </c:pt>
                <c:pt idx="4">
                  <c:v>10.4</c:v>
                </c:pt>
                <c:pt idx="5">
                  <c:v>14.8</c:v>
                </c:pt>
                <c:pt idx="6">
                  <c:v>17.899999999999999</c:v>
                </c:pt>
                <c:pt idx="7">
                  <c:v>18.100000000000001</c:v>
                </c:pt>
                <c:pt idx="8">
                  <c:v>16.3</c:v>
                </c:pt>
                <c:pt idx="9">
                  <c:v>12.1</c:v>
                </c:pt>
                <c:pt idx="10">
                  <c:v>13.4</c:v>
                </c:pt>
                <c:pt idx="11">
                  <c:v>17.600000000000001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0A7-47DB-A966-0E986B904B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3D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A4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 (min)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Sheet1!$A$2:$A$18</c:f>
              <c:strCache>
                <c:ptCount val="17"/>
                <c:pt idx="0">
                  <c:v>06</c:v>
                </c:pt>
                <c:pt idx="1">
                  <c:v>07</c:v>
                </c:pt>
                <c:pt idx="2">
                  <c:v>08</c:v>
                </c:pt>
                <c:pt idx="3">
                  <c:v>09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9.1</c:v>
                </c:pt>
                <c:pt idx="1">
                  <c:v>14.2</c:v>
                </c:pt>
                <c:pt idx="2">
                  <c:v>15.8</c:v>
                </c:pt>
                <c:pt idx="3">
                  <c:v>14.9</c:v>
                </c:pt>
                <c:pt idx="4">
                  <c:v>11.3</c:v>
                </c:pt>
                <c:pt idx="5">
                  <c:v>9.8000000000000007</c:v>
                </c:pt>
                <c:pt idx="6">
                  <c:v>10.199999999999999</c:v>
                </c:pt>
                <c:pt idx="7">
                  <c:v>10.6</c:v>
                </c:pt>
                <c:pt idx="8">
                  <c:v>11.1</c:v>
                </c:pt>
                <c:pt idx="9">
                  <c:v>10.5</c:v>
                </c:pt>
                <c:pt idx="10">
                  <c:v>11.8</c:v>
                </c:pt>
                <c:pt idx="11">
                  <c:v>15.2</c:v>
                </c:pt>
                <c:pt idx="12">
                  <c:v>16.399999999999999</c:v>
                </c:pt>
                <c:pt idx="13">
                  <c:v>15.9</c:v>
                </c:pt>
                <c:pt idx="14">
                  <c:v>14.7</c:v>
                </c:pt>
                <c:pt idx="15">
                  <c:v>12.3</c:v>
                </c:pt>
                <c:pt idx="16">
                  <c:v>10.8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08-4D76-B8FB-109F280748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3D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A4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 (min)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NDLS-HWH</c:v>
                </c:pt>
                <c:pt idx="1">
                  <c:v>PNBE-NDLS</c:v>
                </c:pt>
                <c:pt idx="2">
                  <c:v>GKP-NDLS</c:v>
                </c:pt>
                <c:pt idx="3">
                  <c:v>MFP-NDLS</c:v>
                </c:pt>
                <c:pt idx="4">
                  <c:v>BSB-NDLS</c:v>
                </c:pt>
                <c:pt idx="5">
                  <c:v>LKO-NDLS</c:v>
                </c:pt>
                <c:pt idx="6">
                  <c:v>PNBE-HWH</c:v>
                </c:pt>
                <c:pt idx="7">
                  <c:v>BPL-NDLS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28.4</c:v>
                </c:pt>
                <c:pt idx="1">
                  <c:v>25.2</c:v>
                </c:pt>
                <c:pt idx="2">
                  <c:v>23.8</c:v>
                </c:pt>
                <c:pt idx="3">
                  <c:v>22.1</c:v>
                </c:pt>
                <c:pt idx="4">
                  <c:v>21.5</c:v>
                </c:pt>
                <c:pt idx="5">
                  <c:v>19.8</c:v>
                </c:pt>
                <c:pt idx="6">
                  <c:v>18.899999999999999</c:v>
                </c:pt>
                <c:pt idx="7">
                  <c:v>17.600000000000001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58-40D7-8FB4-947B3016D0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C3D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A4A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 (min)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MAS-SBC</c:v>
                </c:pt>
                <c:pt idx="1">
                  <c:v>BLR-HYD</c:v>
                </c:pt>
                <c:pt idx="2">
                  <c:v>PUNE-MAS</c:v>
                </c:pt>
                <c:pt idx="3">
                  <c:v>ADI-BVI</c:v>
                </c:pt>
                <c:pt idx="4">
                  <c:v>BCT-PUNE</c:v>
                </c:pt>
                <c:pt idx="5">
                  <c:v>MAS-CBE</c:v>
                </c:pt>
                <c:pt idx="6">
                  <c:v>SBC-MYS</c:v>
                </c:pt>
                <c:pt idx="7">
                  <c:v>PNVL-KYN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3.1</c:v>
                </c:pt>
                <c:pt idx="1">
                  <c:v>3.8</c:v>
                </c:pt>
                <c:pt idx="2">
                  <c:v>4.2</c:v>
                </c:pt>
                <c:pt idx="3">
                  <c:v>4.7</c:v>
                </c:pt>
                <c:pt idx="4">
                  <c:v>5.0999999999999996</c:v>
                </c:pt>
                <c:pt idx="5">
                  <c:v>5.5</c:v>
                </c:pt>
                <c:pt idx="6">
                  <c:v>5.9</c:v>
                </c:pt>
                <c:pt idx="7">
                  <c:v>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6F-4B8C-B746-22264B2585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C3D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A4A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 (min)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8E9-4043-8705-D3576255C425}"/>
              </c:ext>
            </c:extLst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8E9-4043-8705-D3576255C425}"/>
              </c:ext>
            </c:extLst>
          </c:dPt>
          <c:dPt>
            <c:idx val="2"/>
            <c:invertIfNegative val="0"/>
            <c:bubble3D val="0"/>
            <c:spPr>
              <a:solidFill>
                <a:srgbClr val="E889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8E9-4043-8705-D3576255C425}"/>
              </c:ext>
            </c:extLst>
          </c:dPt>
          <c:dPt>
            <c:idx val="3"/>
            <c:invertIfNegative val="0"/>
            <c:bubble3D val="0"/>
            <c:spPr>
              <a:solidFill>
                <a:srgbClr val="E889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8E9-4043-8705-D3576255C425}"/>
              </c:ext>
            </c:extLst>
          </c:dPt>
          <c:dPt>
            <c:idx val="4"/>
            <c:invertIfNegative val="0"/>
            <c:bubble3D val="0"/>
            <c:spPr>
              <a:solidFill>
                <a:srgbClr val="E889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8E9-4043-8705-D3576255C425}"/>
              </c:ext>
            </c:extLst>
          </c:dPt>
          <c:dPt>
            <c:idx val="5"/>
            <c:invertIfNegative val="0"/>
            <c:bubble3D val="0"/>
            <c:spPr>
              <a:solidFill>
                <a:srgbClr val="F4C4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8E9-4043-8705-D3576255C425}"/>
              </c:ext>
            </c:extLst>
          </c:dPt>
          <c:dPt>
            <c:idx val="6"/>
            <c:invertIfNegative val="0"/>
            <c:bubble3D val="0"/>
            <c:spPr>
              <a:solidFill>
                <a:srgbClr val="F4C4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8E9-4043-8705-D3576255C425}"/>
              </c:ext>
            </c:extLst>
          </c:dPt>
          <c:dPt>
            <c:idx val="7"/>
            <c:invertIfNegative val="0"/>
            <c:bubble3D val="0"/>
            <c:spPr>
              <a:solidFill>
                <a:srgbClr val="F4C4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8E9-4043-8705-D3576255C42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Kanpur Ctrl</c:v>
                </c:pt>
                <c:pt idx="1">
                  <c:v>Mughal Sarai</c:v>
                </c:pt>
                <c:pt idx="2">
                  <c:v>Allahabad</c:v>
                </c:pt>
                <c:pt idx="3">
                  <c:v>Patna Jn</c:v>
                </c:pt>
                <c:pt idx="4">
                  <c:v>Gaya Jn</c:v>
                </c:pt>
                <c:pt idx="5">
                  <c:v>Lucknow</c:v>
                </c:pt>
                <c:pt idx="6">
                  <c:v>Varanasi</c:v>
                </c:pt>
                <c:pt idx="7">
                  <c:v>Guwahati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22.4</c:v>
                </c:pt>
                <c:pt idx="1">
                  <c:v>20.8</c:v>
                </c:pt>
                <c:pt idx="2">
                  <c:v>19.600000000000001</c:v>
                </c:pt>
                <c:pt idx="3">
                  <c:v>18.3</c:v>
                </c:pt>
                <c:pt idx="4">
                  <c:v>17.899999999999999</c:v>
                </c:pt>
                <c:pt idx="5">
                  <c:v>16.5</c:v>
                </c:pt>
                <c:pt idx="6">
                  <c:v>15.8</c:v>
                </c:pt>
                <c:pt idx="7">
                  <c:v>14.6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8E9-4043-8705-D3576255C4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C3D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A4A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 (min)</c:v>
                </c:pt>
              </c:strCache>
            </c:strRef>
          </c:tx>
          <c:spPr>
            <a:solidFill>
              <a:srgbClr val="1E844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12B-4789-A800-A3CD948382FA}"/>
              </c:ext>
            </c:extLst>
          </c:dPt>
          <c:dPt>
            <c:idx val="1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12B-4789-A800-A3CD948382FA}"/>
              </c:ext>
            </c:extLst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12B-4789-A800-A3CD948382FA}"/>
              </c:ext>
            </c:extLst>
          </c:dPt>
          <c:dPt>
            <c:idx val="3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12B-4789-A800-A3CD948382FA}"/>
              </c:ext>
            </c:extLst>
          </c:dPt>
          <c:dPt>
            <c:idx val="4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12B-4789-A800-A3CD948382FA}"/>
              </c:ext>
            </c:extLst>
          </c:dPt>
          <c:dPt>
            <c:idx val="5"/>
            <c:invertIfNegative val="0"/>
            <c:bubble3D val="0"/>
            <c:spPr>
              <a:solidFill>
                <a:srgbClr val="52BE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12B-4789-A800-A3CD948382FA}"/>
              </c:ext>
            </c:extLst>
          </c:dPt>
          <c:dPt>
            <c:idx val="6"/>
            <c:invertIfNegative val="0"/>
            <c:bubble3D val="0"/>
            <c:spPr>
              <a:solidFill>
                <a:srgbClr val="52BE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12B-4789-A800-A3CD948382FA}"/>
              </c:ext>
            </c:extLst>
          </c:dPt>
          <c:dPt>
            <c:idx val="7"/>
            <c:invertIfNegative val="0"/>
            <c:bubble3D val="0"/>
            <c:spPr>
              <a:solidFill>
                <a:srgbClr val="76D7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12B-4789-A800-A3CD948382F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Chennai Central</c:v>
                </c:pt>
                <c:pt idx="1">
                  <c:v>KSR Bengaluru</c:v>
                </c:pt>
                <c:pt idx="2">
                  <c:v>Mysuru Jn</c:v>
                </c:pt>
                <c:pt idx="3">
                  <c:v>Pune Jn</c:v>
                </c:pt>
                <c:pt idx="4">
                  <c:v>Ahmedabad</c:v>
                </c:pt>
                <c:pt idx="5">
                  <c:v>Surat</c:v>
                </c:pt>
                <c:pt idx="6">
                  <c:v>Mumbai CST</c:v>
                </c:pt>
                <c:pt idx="7">
                  <c:v>Thane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3.4</c:v>
                </c:pt>
                <c:pt idx="1">
                  <c:v>3.9</c:v>
                </c:pt>
                <c:pt idx="2">
                  <c:v>4.0999999999999996</c:v>
                </c:pt>
                <c:pt idx="3">
                  <c:v>4.5</c:v>
                </c:pt>
                <c:pt idx="4">
                  <c:v>4.8</c:v>
                </c:pt>
                <c:pt idx="5">
                  <c:v>5.2</c:v>
                </c:pt>
                <c:pt idx="6">
                  <c:v>5.6</c:v>
                </c:pt>
                <c:pt idx="7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612B-4789-A800-A3CD948382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C3D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A4A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 Count</c:v>
                </c:pt>
              </c:strCache>
            </c:strRef>
          </c:tx>
          <c:spPr>
            <a:solidFill>
              <a:srgbClr val="D62728"/>
            </a:solidFill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50</c:v>
                </c:pt>
                <c:pt idx="10">
                  <c:v>60</c:v>
                </c:pt>
                <c:pt idx="11">
                  <c:v>80</c:v>
                </c:pt>
                <c:pt idx="12">
                  <c:v>100</c:v>
                </c:pt>
                <c:pt idx="13">
                  <c:v>120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12800</c:v>
                </c:pt>
                <c:pt idx="1">
                  <c:v>9400</c:v>
                </c:pt>
                <c:pt idx="2">
                  <c:v>7200</c:v>
                </c:pt>
                <c:pt idx="3">
                  <c:v>5100</c:v>
                </c:pt>
                <c:pt idx="4">
                  <c:v>3800</c:v>
                </c:pt>
                <c:pt idx="5">
                  <c:v>2900</c:v>
                </c:pt>
                <c:pt idx="6">
                  <c:v>2100</c:v>
                </c:pt>
                <c:pt idx="7">
                  <c:v>1500</c:v>
                </c:pt>
                <c:pt idx="8">
                  <c:v>1200</c:v>
                </c:pt>
                <c:pt idx="9">
                  <c:v>900</c:v>
                </c:pt>
                <c:pt idx="10">
                  <c:v>600</c:v>
                </c:pt>
                <c:pt idx="11">
                  <c:v>350</c:v>
                </c:pt>
                <c:pt idx="12">
                  <c:v>180</c:v>
                </c:pt>
                <c:pt idx="13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AF-42D9-B513-7C47B5DB34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3D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A4A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Delay (min)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236-4BD3-A053-9FF42A5938BA}"/>
              </c:ext>
            </c:extLst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236-4BD3-A053-9FF42A5938BA}"/>
              </c:ext>
            </c:extLst>
          </c:dPt>
          <c:dPt>
            <c:idx val="2"/>
            <c:invertIfNegative val="0"/>
            <c:bubble3D val="0"/>
            <c:spPr>
              <a:solidFill>
                <a:srgbClr val="E889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236-4BD3-A053-9FF42A5938BA}"/>
              </c:ext>
            </c:extLst>
          </c:dPt>
          <c:dPt>
            <c:idx val="3"/>
            <c:invertIfNegative val="0"/>
            <c:bubble3D val="0"/>
            <c:spPr>
              <a:solidFill>
                <a:srgbClr val="F4C4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236-4BD3-A053-9FF42A5938BA}"/>
              </c:ext>
            </c:extLst>
          </c:dPt>
          <c:dPt>
            <c:idx val="4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236-4BD3-A053-9FF42A5938BA}"/>
              </c:ext>
            </c:extLst>
          </c:dPt>
          <c:dPt>
            <c:idx val="5"/>
            <c:invertIfNegative val="0"/>
            <c:bubble3D val="0"/>
            <c:spPr>
              <a:solidFill>
                <a:srgbClr val="1E84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236-4BD3-A053-9FF42A5938B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North
17.8</c:v>
                </c:pt>
                <c:pt idx="1">
                  <c:v>East
15.6</c:v>
                </c:pt>
                <c:pt idx="2">
                  <c:v>NE
13.2</c:v>
                </c:pt>
                <c:pt idx="3">
                  <c:v>Central
11.4</c:v>
                </c:pt>
                <c:pt idx="4">
                  <c:v>West
9.8</c:v>
                </c:pt>
                <c:pt idx="5">
                  <c:v>South
8.2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17.8</c:v>
                </c:pt>
                <c:pt idx="1">
                  <c:v>15.6</c:v>
                </c:pt>
                <c:pt idx="2">
                  <c:v>13.2</c:v>
                </c:pt>
                <c:pt idx="3">
                  <c:v>11.4</c:v>
                </c:pt>
                <c:pt idx="4">
                  <c:v>9.8000000000000007</c:v>
                </c:pt>
                <c:pt idx="5">
                  <c:v>8.1999999999999993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236-4BD3-A053-9FF42A5938B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5080" cap="flat">
              <a:solidFill>
                <a:srgbClr val="1C3D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A4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1975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9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50292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178308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Punctuality of Indian Railways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1828800" y="2807208"/>
            <a:ext cx="5486400" cy="41148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274320" y="286207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Science Analysis of Delay Patterns, Regional Disparities &amp; Statistical Insights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560320" y="3268980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1C3D5E"/>
          </a:solidFill>
          <a:ln w="19050">
            <a:solidFill>
              <a:srgbClr val="E889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3593592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10128" y="35295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Akhil Bedi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3310128" y="39319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(Data Science) Student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11480" y="466344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13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411480" y="4663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55,008  Records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075688" y="466344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13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2075688" y="4663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 Trains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739896" y="466344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13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3739896" y="4663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 Stations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404104" y="466344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13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5404104" y="4663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 Visualizations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7068312" y="466344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13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7068312" y="4663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Analysis Phases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roadmap — 3 phases, 6 analysis groups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724912" cy="1737360"/>
          </a:xfrm>
          <a:prstGeom prst="roundRect">
            <a:avLst>
              <a:gd name="adj" fmla="val 6316"/>
            </a:avLst>
          </a:prstGeom>
          <a:solidFill>
            <a:srgbClr val="132A4A"/>
          </a:solidFill>
          <a:ln w="10160">
            <a:solidFill>
              <a:srgbClr val="E889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29768" y="114300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888" y="114300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9768" y="155448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Dataset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29768" y="2075688"/>
            <a:ext cx="2505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55K records · 100 trains · 81 stations · 35 features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182112" y="1051560"/>
            <a:ext cx="2724912" cy="1737360"/>
          </a:xfrm>
          <a:prstGeom prst="roundRect">
            <a:avLst>
              <a:gd name="adj" fmla="val 6316"/>
            </a:avLst>
          </a:prstGeom>
          <a:solidFill>
            <a:srgbClr val="132A4A"/>
          </a:solidFill>
          <a:ln w="10160">
            <a:solidFill>
              <a:srgbClr val="E889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3291840" y="114300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14300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155448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Engineering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291840" y="2075688"/>
            <a:ext cx="2505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· Duplicates · Feature creation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044184" y="1051560"/>
            <a:ext cx="2724912" cy="1737360"/>
          </a:xfrm>
          <a:prstGeom prst="roundRect">
            <a:avLst>
              <a:gd name="adj" fmla="val 6316"/>
            </a:avLst>
          </a:prstGeom>
          <a:solidFill>
            <a:srgbClr val="132A4A"/>
          </a:solidFill>
          <a:ln w="10160">
            <a:solidFill>
              <a:srgbClr val="E889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6153912" y="114300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7032" y="114300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53912" y="155448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Visualizations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153912" y="2075688"/>
            <a:ext cx="2505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charts across 6 groups (A–F)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320040" y="2971800"/>
            <a:ext cx="2724912" cy="1737360"/>
          </a:xfrm>
          <a:prstGeom prst="roundRect">
            <a:avLst>
              <a:gd name="adj" fmla="val 6316"/>
            </a:avLst>
          </a:prstGeom>
          <a:solidFill>
            <a:srgbClr val="132A4A"/>
          </a:solidFill>
          <a:ln w="10160">
            <a:solidFill>
              <a:srgbClr val="E889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17"/>
          <p:cNvSpPr/>
          <p:nvPr/>
        </p:nvSpPr>
        <p:spPr>
          <a:xfrm>
            <a:off x="429768" y="30632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2888" y="3063240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29768" y="347472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&amp; Time Analysis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29768" y="3995928"/>
            <a:ext cx="2505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· Seasons · Peak hours · Calendar trends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3182112" y="2971800"/>
            <a:ext cx="2724912" cy="1737360"/>
          </a:xfrm>
          <a:prstGeom prst="roundRect">
            <a:avLst>
              <a:gd name="adj" fmla="val 6316"/>
            </a:avLst>
          </a:prstGeom>
          <a:solidFill>
            <a:srgbClr val="132A4A"/>
          </a:solidFill>
          <a:ln w="10160">
            <a:solidFill>
              <a:srgbClr val="E889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1"/>
          <p:cNvSpPr/>
          <p:nvPr/>
        </p:nvSpPr>
        <p:spPr>
          <a:xfrm>
            <a:off x="3291840" y="30632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960" y="3063240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291840" y="347472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Type &amp; Route Insights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3291840" y="3995928"/>
            <a:ext cx="2505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Rajdhani vs Passenger · Top delayed/punctual routes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6044184" y="2971800"/>
            <a:ext cx="2724912" cy="1737360"/>
          </a:xfrm>
          <a:prstGeom prst="roundRect">
            <a:avLst>
              <a:gd name="adj" fmla="val 6316"/>
            </a:avLst>
          </a:prstGeom>
          <a:solidFill>
            <a:srgbClr val="132A4A"/>
          </a:solidFill>
          <a:ln w="10160">
            <a:solidFill>
              <a:srgbClr val="E889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25"/>
          <p:cNvSpPr/>
          <p:nvPr/>
        </p:nvSpPr>
        <p:spPr>
          <a:xfrm>
            <a:off x="6153912" y="30632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7032" y="3063240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153912" y="347472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Testing &amp; Findings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6153912" y="3995928"/>
            <a:ext cx="2505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 · Chi-square · Linear Regression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— Indian Railways Dataset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answer and why it matters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60520" cy="3794760"/>
          </a:xfrm>
          <a:prstGeom prst="roundRect">
            <a:avLst>
              <a:gd name="adj" fmla="val 2892"/>
            </a:avLst>
          </a:prstGeom>
          <a:solidFill>
            <a:srgbClr val="132A4A"/>
          </a:solidFill>
          <a:ln w="6350">
            <a:solidFill>
              <a:srgbClr val="1C3D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3794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Railways is the 4th largest rail network in the world, carrying ~23 million passengers daily.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Punctuality directly impacts millions of livelihoods, freight logistics, and the national economy.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massive scale, systematic data-driven punctuality analysis remains scarce.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applies full data science workflow: cleaning → EDA → statistical hypothesis testing.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identify which trains, routes, regions &amp; seasons are most prone to delays — and why.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1C3D5E"/>
          </a:solidFill>
          <a:ln w="19050">
            <a:solidFill>
              <a:srgbClr val="E889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179576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846320" y="155448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55,008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846320" y="20116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858000" y="105156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1C3D5E"/>
          </a:solidFill>
          <a:ln w="19050">
            <a:solidFill>
              <a:srgbClr val="E889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2" y="1179576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49440" y="155448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6949440" y="20116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Trains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754880" y="297180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1C3D5E"/>
          </a:solidFill>
          <a:ln w="19050">
            <a:solidFill>
              <a:srgbClr val="E889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3099816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46320" y="347472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4846320" y="393192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858000" y="297180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1C3D5E"/>
          </a:solidFill>
          <a:ln w="19050">
            <a:solidFill>
              <a:srgbClr val="E889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2592" y="3099816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49440" y="347472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2600" dirty="0"/>
          </a:p>
        </p:txBody>
      </p:sp>
      <p:sp>
        <p:nvSpPr>
          <p:cNvPr id="24" name="Text 18"/>
          <p:cNvSpPr/>
          <p:nvPr/>
        </p:nvSpPr>
        <p:spPr>
          <a:xfrm>
            <a:off x="6949440" y="393192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Columns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4572000" y="46634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Phases: Data Cleaning  →  25 Visualizations  →  Statistical Tests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2834640" y="548640"/>
            <a:ext cx="36576" cy="3840480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5486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08960" y="12801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3108960" y="210312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55K raw rows into an analysis-ready dataset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rigorous quality control and smart feature creation.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8-step rigorous quality assurance process applied to raw dataset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251960" cy="859536"/>
          </a:xfrm>
          <a:prstGeom prst="roundRect">
            <a:avLst>
              <a:gd name="adj" fmla="val 9574"/>
            </a:avLst>
          </a:prstGeom>
          <a:solidFill>
            <a:srgbClr val="132A4A"/>
          </a:solidFill>
          <a:ln w="6350">
            <a:solidFill>
              <a:srgbClr val="1C3D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84048" y="11338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1338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&amp; Inspect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46304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55,008 rows × 35 cols loaded. Initial shape, dtypes, and describe() reviewed to understand data structure.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078992"/>
            <a:ext cx="4251960" cy="859536"/>
          </a:xfrm>
          <a:prstGeom prst="roundRect">
            <a:avLst>
              <a:gd name="adj" fmla="val 9574"/>
            </a:avLst>
          </a:prstGeom>
          <a:solidFill>
            <a:srgbClr val="132A4A"/>
          </a:solidFill>
          <a:ln w="6350">
            <a:solidFill>
              <a:srgbClr val="1C3D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818888" y="11338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03520" y="11338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 Analysis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18888" y="146304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missingno matrix revealed null patterns. Lat/Long imputed from master_stations.csv. Delay null rows flagged.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039112"/>
            <a:ext cx="4251960" cy="859536"/>
          </a:xfrm>
          <a:prstGeom prst="roundRect">
            <a:avLst>
              <a:gd name="adj" fmla="val 9574"/>
            </a:avLst>
          </a:prstGeom>
          <a:solidFill>
            <a:srgbClr val="132A4A"/>
          </a:solidFill>
          <a:ln w="6350">
            <a:solidFill>
              <a:srgbClr val="1C3D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84048" y="20939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20939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Removal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" y="242316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&amp; key-based duplicates detected on (Train_No, Station_Code, Date). Removed keeping first occurrence.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2039112"/>
            <a:ext cx="4251960" cy="859536"/>
          </a:xfrm>
          <a:prstGeom prst="roundRect">
            <a:avLst>
              <a:gd name="adj" fmla="val 9574"/>
            </a:avLst>
          </a:prstGeom>
          <a:solidFill>
            <a:srgbClr val="132A4A"/>
          </a:solidFill>
          <a:ln w="6350">
            <a:solidFill>
              <a:srgbClr val="1C3D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818888" y="20939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03520" y="20939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Datetime Conversion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18888" y="242316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column parsed to datetime. Extracted Month, Month_Name, Weekday, Is_Weekend, Scheduled_Hour from timestamps.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999232"/>
            <a:ext cx="4251960" cy="859536"/>
          </a:xfrm>
          <a:prstGeom prst="roundRect">
            <a:avLst>
              <a:gd name="adj" fmla="val 9574"/>
            </a:avLst>
          </a:prstGeom>
          <a:solidFill>
            <a:srgbClr val="132A4A"/>
          </a:solidFill>
          <a:ln w="6350">
            <a:solidFill>
              <a:srgbClr val="1C3D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384048" y="305409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8680" y="30540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 Validation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338328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delays clipped to 0. Records &gt;300 min flagged as outliers. Delay_Category cross-verified against raw minutes.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2999232"/>
            <a:ext cx="4251960" cy="859536"/>
          </a:xfrm>
          <a:prstGeom prst="roundRect">
            <a:avLst>
              <a:gd name="adj" fmla="val 9574"/>
            </a:avLst>
          </a:prstGeom>
          <a:solidFill>
            <a:srgbClr val="132A4A"/>
          </a:solidFill>
          <a:ln w="6350">
            <a:solidFill>
              <a:srgbClr val="1C3D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818888" y="305409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03520" y="30540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18888" y="338328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On_Time_Flag, Delay_Ratio, Cumulative_Delay per route-date, Route_Efficiency score, Is_Peak_Hour, Season.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959352"/>
            <a:ext cx="4251960" cy="859536"/>
          </a:xfrm>
          <a:prstGeom prst="roundRect">
            <a:avLst>
              <a:gd name="adj" fmla="val 9574"/>
            </a:avLst>
          </a:prstGeom>
          <a:solidFill>
            <a:srgbClr val="132A4A"/>
          </a:solidFill>
          <a:ln w="6350">
            <a:solidFill>
              <a:srgbClr val="1C3D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384048" y="40142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68680" y="40142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Table Merges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4048" y="434340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Left-joined master_stations on Station_Code + Zones on Zone_Code. Row count preserved (verified with assert).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3959352"/>
            <a:ext cx="4251960" cy="859536"/>
          </a:xfrm>
          <a:prstGeom prst="roundRect">
            <a:avLst>
              <a:gd name="adj" fmla="val 9574"/>
            </a:avLst>
          </a:prstGeom>
          <a:solidFill>
            <a:srgbClr val="132A4A"/>
          </a:solidFill>
          <a:ln w="6350">
            <a:solidFill>
              <a:srgbClr val="1C3D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4818888" y="40142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303520" y="40142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Clean Dataset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18888" y="434340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quality check run. Exported master_dataset_cleaned.csv — ready for Phase 2 visualization and Phase 3 statistics.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— Derived Variables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new analytical features that power every downstream visualization and test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724912" cy="1737360"/>
          </a:xfrm>
          <a:prstGeom prst="roundRect">
            <a:avLst>
              <a:gd name="adj" fmla="val 6316"/>
            </a:avLst>
          </a:prstGeom>
          <a:solidFill>
            <a:srgbClr val="132A4A"/>
          </a:solidFill>
          <a:ln w="10160">
            <a:solidFill>
              <a:srgbClr val="E889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118872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17043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On_Time_Flag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02336" y="15819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if Arrival_Delay_Min ≤ 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02336" y="188366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marker of punctuality. Enables rate calculations across any group (train, route, region, season).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36392" y="1078992"/>
            <a:ext cx="2724912" cy="1737360"/>
          </a:xfrm>
          <a:prstGeom prst="roundRect">
            <a:avLst>
              <a:gd name="adj" fmla="val 6316"/>
            </a:avLst>
          </a:prstGeom>
          <a:solidFill>
            <a:srgbClr val="132A4A"/>
          </a:solidFill>
          <a:ln w="10160">
            <a:solidFill>
              <a:srgbClr val="E889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18872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85032" y="117043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Delay_Ratio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264408" y="15819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Departure_Delay ÷ (Arrival_Delay + ε)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264408" y="188366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much of a departure delay translates to arrival delay. Values near 1 = delay worsens; &lt;1 = driver recovered en-route.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998464" y="1078992"/>
            <a:ext cx="2724912" cy="1737360"/>
          </a:xfrm>
          <a:prstGeom prst="roundRect">
            <a:avLst>
              <a:gd name="adj" fmla="val 6316"/>
            </a:avLst>
          </a:prstGeom>
          <a:solidFill>
            <a:srgbClr val="132A4A"/>
          </a:solidFill>
          <a:ln w="10160">
            <a:solidFill>
              <a:srgbClr val="E889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18872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47104" y="117043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Cumulative_Delay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126480" y="15819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sum per Route-Date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126480" y="188366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compounding effect — early station delays cascade to downstream stops, making total route burden visible.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274320" y="2999232"/>
            <a:ext cx="2724912" cy="1737360"/>
          </a:xfrm>
          <a:prstGeom prst="roundRect">
            <a:avLst>
              <a:gd name="adj" fmla="val 6316"/>
            </a:avLst>
          </a:prstGeom>
          <a:solidFill>
            <a:srgbClr val="132A4A"/>
          </a:solidFill>
          <a:ln w="10160">
            <a:solidFill>
              <a:srgbClr val="E889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" y="310896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22960" y="309067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Route_Efficiency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02336" y="35021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% for that Route (all records)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02336" y="380390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route-level punctuality score (0–100%). Enables ranking best/worst routes independent of individual train performance.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3136392" y="2999232"/>
            <a:ext cx="2724912" cy="1737360"/>
          </a:xfrm>
          <a:prstGeom prst="roundRect">
            <a:avLst>
              <a:gd name="adj" fmla="val 6316"/>
            </a:avLst>
          </a:prstGeom>
          <a:solidFill>
            <a:srgbClr val="132A4A"/>
          </a:solidFill>
          <a:ln w="10160">
            <a:solidFill>
              <a:srgbClr val="E889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4408" y="3108960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685032" y="309067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Is_Peak_Hour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264408" y="35021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if hour ∈ {7–10} ∪ {17–20}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3264408" y="380390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morning rush and evening rush departures. Allows peak vs off-peak delay comparison (G14).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5998464" y="2999232"/>
            <a:ext cx="2724912" cy="1737360"/>
          </a:xfrm>
          <a:prstGeom prst="roundRect">
            <a:avLst>
              <a:gd name="adj" fmla="val 6316"/>
            </a:avLst>
          </a:prstGeom>
          <a:solidFill>
            <a:srgbClr val="132A4A"/>
          </a:solidFill>
          <a:ln w="10160">
            <a:solidFill>
              <a:srgbClr val="E889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108960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547104" y="309067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126480" y="35021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→ Winter/Summer/Monsoon/Post-Monsoon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126480" y="380390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months into India's 4 seasons. Reveals Monsoon delay spike (Jun–Sep) and Winter fog effects (Dec–Jan).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2834640" y="548640"/>
            <a:ext cx="36576" cy="3840480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5486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08960" y="12801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3108960" y="210312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visualizations across 6 groups: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· Delay Distributions · Regional · Time Trends · Train Types · Station Maps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000"/>
          </a:xfrm>
          <a:prstGeom prst="rect">
            <a:avLst/>
          </a:prstGeom>
          <a:solidFill>
            <a:srgbClr val="E88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43500"/>
            <a:ext cx="9144000" cy="100000"/>
          </a:xfrm>
          <a:prstGeom prst="rect">
            <a:avLst/>
          </a:prstGeom>
          <a:solidFill>
            <a:srgbClr val="E88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10000"/>
            <a:ext cx="850000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FFFFFF"/>
                </a:solidFill>
                <a:latin typeface="Calibri"/>
              </a:rPr>
              <a:t>Data Quality Analysis</a:t>
            </a:r>
            <a:endParaRPr lang="en-US" sz="2200" b="1" dirty="0">
              <a:solidFill>
                <a:srgbClr val="FFFFFF"/>
              </a:solidFill>
              <a:latin typeface="Calibri"/>
            </a:endParaRPr>
          </a:p>
          <a:p>
            <a:r>
              <a:rPr lang="en-IN" sz="1050" dirty="0">
                <a:solidFill>
                  <a:srgbClr val="E8891A"/>
                </a:solidFill>
                <a:latin typeface="Calibri"/>
              </a:rPr>
              <a:t>Mi</a:t>
            </a:r>
            <a:r>
              <a:rPr lang="en-US" sz="1050" dirty="0" err="1">
                <a:solidFill>
                  <a:srgbClr val="E8891A"/>
                </a:solidFill>
                <a:latin typeface="Calibri"/>
              </a:rPr>
              <a:t>ssing</a:t>
            </a:r>
            <a:r>
              <a:rPr lang="en-US" sz="1050" dirty="0">
                <a:solidFill>
                  <a:srgbClr val="E8891A"/>
                </a:solidFill>
                <a:latin typeface="Calibri"/>
              </a:rPr>
              <a:t> value patterns &amp; outlier detection across 55,008 records and 35 features</a:t>
            </a:r>
          </a:p>
        </p:txBody>
      </p:sp>
      <p:pic>
        <p:nvPicPr>
          <p:cNvPr id="5" name="Picture 4" descr="chart_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0" y="731520"/>
            <a:ext cx="4200000" cy="2378480"/>
          </a:xfrm>
          <a:prstGeom prst="rect">
            <a:avLst/>
          </a:prstGeom>
        </p:spPr>
      </p:pic>
      <p:pic>
        <p:nvPicPr>
          <p:cNvPr id="6" name="Picture 5" descr="chart_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0000" y="731520"/>
            <a:ext cx="4250000" cy="2378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00000" y="3250000"/>
            <a:ext cx="4200000" cy="1700000"/>
          </a:xfrm>
          <a:prstGeom prst="rect">
            <a:avLst/>
          </a:prstGeom>
          <a:solidFill>
            <a:srgbClr val="0D2040"/>
          </a:solidFill>
          <a:ln w="9525">
            <a:solidFill>
              <a:srgbClr val="E889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0000" y="3330000"/>
            <a:ext cx="4040000" cy="700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E8891A"/>
                </a:solidFill>
                <a:latin typeface="Calibri"/>
              </a:rPr>
              <a:t>Missing Value Insights</a:t>
            </a:r>
          </a:p>
          <a:p>
            <a:r>
              <a:rPr sz="950" dirty="0">
                <a:solidFill>
                  <a:srgbClr val="FFFFFF"/>
                </a:solidFill>
                <a:latin typeface="Calibri"/>
              </a:rPr>
              <a:t>▪  Lat/Long had 3.2% nulls — imputed from master_stations.csv lookup table</a:t>
            </a:r>
          </a:p>
          <a:p>
            <a:r>
              <a:rPr sz="950" dirty="0">
                <a:solidFill>
                  <a:srgbClr val="FFFFFF"/>
                </a:solidFill>
                <a:latin typeface="Calibri"/>
              </a:rPr>
              <a:t>▪  </a:t>
            </a:r>
            <a:r>
              <a:rPr sz="950" dirty="0" err="1">
                <a:solidFill>
                  <a:srgbClr val="FFFFFF"/>
                </a:solidFill>
                <a:latin typeface="Calibri"/>
              </a:rPr>
              <a:t>Arrival_Delay_Min</a:t>
            </a:r>
            <a:r>
              <a:rPr sz="950" dirty="0">
                <a:solidFill>
                  <a:srgbClr val="FFFFFF"/>
                </a:solidFill>
                <a:latin typeface="Calibri"/>
              </a:rPr>
              <a:t> 1.8% null — flagged as </a:t>
            </a:r>
            <a:r>
              <a:rPr sz="950" dirty="0" err="1">
                <a:solidFill>
                  <a:srgbClr val="FFFFFF"/>
                </a:solidFill>
                <a:latin typeface="Calibri"/>
              </a:rPr>
              <a:t>Delay_Missing_Flag</a:t>
            </a:r>
            <a:r>
              <a:rPr sz="950" dirty="0">
                <a:solidFill>
                  <a:srgbClr val="FFFFFF"/>
                </a:solidFill>
                <a:latin typeface="Calibri"/>
              </a:rPr>
              <a:t>, not dropped</a:t>
            </a:r>
          </a:p>
          <a:p>
            <a:r>
              <a:rPr sz="950" dirty="0">
                <a:solidFill>
                  <a:srgbClr val="FFFFFF"/>
                </a:solidFill>
                <a:latin typeface="Calibri"/>
              </a:rPr>
              <a:t>▪  After imputation: dataset 96.8%+ complete for all analytical dimensions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50000" y="3250000"/>
            <a:ext cx="4250000" cy="1700000"/>
          </a:xfrm>
          <a:prstGeom prst="rect">
            <a:avLst/>
          </a:prstGeom>
          <a:solidFill>
            <a:srgbClr val="0D2040"/>
          </a:solidFill>
          <a:ln w="9525">
            <a:solidFill>
              <a:srgbClr val="E889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0000" y="3330000"/>
            <a:ext cx="4090000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E8891A"/>
                </a:solidFill>
                <a:latin typeface="Calibri"/>
              </a:rPr>
              <a:t>Outlier Boxplot Insights</a:t>
            </a:r>
          </a:p>
          <a:p>
            <a:r>
              <a:rPr sz="950" dirty="0">
                <a:solidFill>
                  <a:srgbClr val="FFFFFF"/>
                </a:solidFill>
                <a:latin typeface="Calibri"/>
              </a:rPr>
              <a:t>▪  IQR fence identifies delays &gt; ~85 min as statistical outliers in cleaned data</a:t>
            </a:r>
          </a:p>
          <a:p>
            <a:r>
              <a:rPr sz="950" dirty="0">
                <a:solidFill>
                  <a:srgbClr val="FFFFFF"/>
                </a:solidFill>
                <a:latin typeface="Calibri"/>
              </a:rPr>
              <a:t>▪  Right-skewed distribution: long right whisker confirms rare but extreme delay events exist</a:t>
            </a:r>
          </a:p>
          <a:p>
            <a:r>
              <a:rPr sz="950" dirty="0">
                <a:solidFill>
                  <a:srgbClr val="FFFFFF"/>
                </a:solidFill>
                <a:latin typeface="Calibri"/>
              </a:rPr>
              <a:t>▪  Records &gt; 300 min flagged separately — 8% of severe delays inflate the mean significantly</a:t>
            </a:r>
          </a:p>
          <a:p>
            <a:r>
              <a:rPr sz="950" dirty="0">
                <a:solidFill>
                  <a:srgbClr val="FFFFFF"/>
                </a:solidFill>
                <a:latin typeface="Calibri"/>
              </a:rPr>
              <a:t>▪  Median (7.8 min) is the honest headline — mean (14.2 min) is pulled by the long tail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000"/>
          </a:xfrm>
          <a:prstGeom prst="rect">
            <a:avLst/>
          </a:prstGeom>
          <a:solidFill>
            <a:srgbClr val="E88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43500"/>
            <a:ext cx="9144000" cy="100000"/>
          </a:xfrm>
          <a:prstGeom prst="rect">
            <a:avLst/>
          </a:prstGeom>
          <a:solidFill>
            <a:srgbClr val="E88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10000"/>
            <a:ext cx="850000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FFFFFF"/>
                </a:solidFill>
                <a:latin typeface="Calibri"/>
              </a:rPr>
              <a:t> Arrival vs Departure Delay — Cascade Correlation</a:t>
            </a:r>
          </a:p>
          <a:p>
            <a:r>
              <a:rPr sz="1050" dirty="0">
                <a:solidFill>
                  <a:srgbClr val="E8891A"/>
                </a:solidFill>
                <a:latin typeface="Calibri"/>
              </a:rPr>
              <a:t>Arrival delays propagate strongly to departures: Pearson r ≈ 0.85 across 55,000 records</a:t>
            </a:r>
          </a:p>
        </p:txBody>
      </p:sp>
      <p:pic>
        <p:nvPicPr>
          <p:cNvPr id="5" name="Picture 4" descr="chart_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000" y="673500"/>
            <a:ext cx="4700000" cy="41865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0000" y="673500"/>
            <a:ext cx="1870000" cy="4364267"/>
          </a:xfrm>
          <a:prstGeom prst="rect">
            <a:avLst/>
          </a:prstGeom>
          <a:solidFill>
            <a:srgbClr val="0D2040"/>
          </a:solidFill>
          <a:ln w="9525">
            <a:solidFill>
              <a:srgbClr val="E889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0000" y="640000"/>
            <a:ext cx="1710000" cy="4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E8891A"/>
                </a:solidFill>
                <a:latin typeface="Calibri"/>
              </a:rPr>
              <a:t>Key Insights</a:t>
            </a:r>
          </a:p>
          <a:p>
            <a:r>
              <a:rPr sz="950" dirty="0">
                <a:solidFill>
                  <a:srgbClr val="FFFFFF"/>
                </a:solidFill>
                <a:latin typeface="Calibri"/>
              </a:rPr>
              <a:t>▪  r ≈ 0.85: very strong positive correlation — arrival delays cascade to departures</a:t>
            </a:r>
          </a:p>
          <a:p>
            <a:r>
              <a:rPr sz="950" dirty="0">
                <a:solidFill>
                  <a:srgbClr val="FFFFFF"/>
                </a:solidFill>
                <a:latin typeface="Calibri"/>
              </a:rPr>
              <a:t>▪  Points below y=x: drivers recovered time </a:t>
            </a:r>
            <a:r>
              <a:rPr sz="95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950" dirty="0">
                <a:solidFill>
                  <a:srgbClr val="FFFFFF"/>
                </a:solidFill>
                <a:latin typeface="Calibri"/>
              </a:rPr>
              <a:t>-route (Delay_Ratio &lt; 1)</a:t>
            </a:r>
          </a:p>
          <a:p>
            <a:r>
              <a:rPr sz="950" dirty="0">
                <a:solidFill>
                  <a:srgbClr val="FFFFFF"/>
                </a:solidFill>
                <a:latin typeface="Calibri"/>
              </a:rPr>
              <a:t>▪  Points above y=x: operational issues worsened delay on departure</a:t>
            </a:r>
          </a:p>
          <a:p>
            <a:r>
              <a:rPr sz="950" dirty="0">
                <a:solidFill>
                  <a:srgbClr val="FFFFFF"/>
                </a:solidFill>
                <a:latin typeface="Calibri"/>
              </a:rPr>
              <a:t>▪  Dense cluster near origin: 34% of trains are on-time or near-on-time</a:t>
            </a:r>
          </a:p>
          <a:p>
            <a:r>
              <a:rPr sz="950" dirty="0">
                <a:solidFill>
                  <a:srgbClr val="FFFFFF"/>
                </a:solidFill>
                <a:latin typeface="Calibri"/>
              </a:rPr>
              <a:t>▪  Fix station dwell time → cascade improvement across downstream network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7100000" y="560000"/>
            <a:ext cx="1800000" cy="4300000"/>
          </a:xfrm>
          <a:prstGeom prst="rect">
            <a:avLst/>
          </a:prstGeom>
          <a:solidFill>
            <a:srgbClr val="0D2040"/>
          </a:solidFill>
          <a:ln w="9525">
            <a:solidFill>
              <a:srgbClr val="E889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80000" y="640000"/>
            <a:ext cx="1640000" cy="4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8891A"/>
                </a:solidFill>
                <a:latin typeface="Calibri"/>
              </a:rPr>
              <a:t>Methodology</a:t>
            </a:r>
          </a:p>
          <a:p>
            <a:r>
              <a:rPr sz="950">
                <a:solidFill>
                  <a:srgbClr val="FFFFFF"/>
                </a:solidFill>
                <a:latin typeface="Calibri"/>
              </a:rPr>
              <a:t>▪  5,000-record random sample shown for visual clarity</a:t>
            </a:r>
          </a:p>
          <a:p>
            <a:r>
              <a:rPr sz="950">
                <a:solidFill>
                  <a:srgbClr val="FFFFFF"/>
                </a:solidFill>
                <a:latin typeface="Calibri"/>
              </a:rPr>
              <a:t>▪  Color encodes arrival delay severity (dark = worse)</a:t>
            </a:r>
          </a:p>
          <a:p>
            <a:r>
              <a:rPr sz="950">
                <a:solidFill>
                  <a:srgbClr val="FFFFFF"/>
                </a:solidFill>
                <a:latin typeface="Calibri"/>
              </a:rPr>
              <a:t>▪  Spearman correlation confirms finding for non-normal data</a:t>
            </a:r>
          </a:p>
          <a:p>
            <a:r>
              <a:rPr sz="950">
                <a:solidFill>
                  <a:srgbClr val="FFFFFF"/>
                </a:solidFill>
                <a:latin typeface="Calibri"/>
              </a:rPr>
              <a:t>▪  Delay_Ratio feature created from this relationship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 Distributions 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shape, spread and category breakdown of arrival delays across 55,000 records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51560"/>
          <a:ext cx="42062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977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 Category Share</a:t>
            </a:r>
            <a:endParaRPr lang="en-US" sz="11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4663440" y="1051560"/>
          <a:ext cx="42062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4663440" y="3977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Delay by Train Type 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74320" y="4206748"/>
            <a:ext cx="4206240" cy="777240"/>
          </a:xfrm>
          <a:prstGeom prst="roundRect">
            <a:avLst>
              <a:gd name="adj" fmla="val 11765"/>
            </a:avLst>
          </a:prstGeom>
          <a:solidFill>
            <a:srgbClr val="132A4A"/>
          </a:solidFill>
          <a:ln w="6350">
            <a:solidFill>
              <a:srgbClr val="1C3D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465666" y="417398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11480" y="4448301"/>
            <a:ext cx="3931920" cy="52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shows strong positive skew (right-tail): median ~8 min but mean ~14 min pulled up by severe cases.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of records are On-Time. 40% have ≤15 min delay — acceptable band for most passengers.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697306" y="4210135"/>
            <a:ext cx="4206240" cy="777240"/>
          </a:xfrm>
          <a:prstGeom prst="roundRect">
            <a:avLst>
              <a:gd name="adj" fmla="val 11765"/>
            </a:avLst>
          </a:prstGeom>
          <a:solidFill>
            <a:srgbClr val="132A4A"/>
          </a:solidFill>
          <a:ln w="6350">
            <a:solidFill>
              <a:srgbClr val="1C3D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5120640" y="417398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00600" y="4448302"/>
            <a:ext cx="3931920" cy="526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Vande Bharat (4.2 min) and Rajdhani (6.8 min) outperform Passenger trains (18.9 min) by &gt;4×.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halts + dedicated tracks + reservation-only boarding explain premium train punctuality advantage.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2834640" y="548640"/>
            <a:ext cx="36576" cy="3840480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5486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08960" y="12801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&amp; Temporal Analysis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3108960" y="210312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delays cluster geographically and when they spike — zones, seasons, peak hours, calendar patterns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Regional &amp; Zone Analysis 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delay patterns across India's railway zones and administrative regions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51560"/>
          <a:ext cx="42519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4005072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Avg Delay by Region</a:t>
            </a:r>
            <a:endParaRPr lang="en-US" sz="105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4754880" y="1051560"/>
          <a:ext cx="4114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4754880" y="40050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Avg Delay by Railway Zone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08660" y="42519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11480" y="4507992"/>
            <a:ext cx="3977640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Region (NR): 17.8 min avg — worst performer. Dense traffic on Delhi–Kanpur–Allahabad corridors creates severe congestion.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Region: 8.2 min avg — nearly 55% better. Fewer freight-passenger conflicts and better track maintenance.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754880" y="4279392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132A4A"/>
          </a:solidFill>
          <a:ln w="6350">
            <a:solidFill>
              <a:srgbClr val="1C3D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5257800" y="4233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92040" y="4526280"/>
            <a:ext cx="38404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 and ER zones consistently lead delay rankings — matching their geographic overlap with high-density North India.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Region×Month heatmap (G9) confirms Monsoon (Jun–Sep) causes a system-wide delay spike across all zones.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000"/>
          </a:xfrm>
          <a:prstGeom prst="rect">
            <a:avLst/>
          </a:prstGeom>
          <a:solidFill>
            <a:srgbClr val="E88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43500"/>
            <a:ext cx="9144000" cy="100000"/>
          </a:xfrm>
          <a:prstGeom prst="rect">
            <a:avLst/>
          </a:prstGeom>
          <a:solidFill>
            <a:srgbClr val="E88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10000"/>
            <a:ext cx="850000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FFFFFF"/>
                </a:solidFill>
                <a:latin typeface="Calibri"/>
              </a:rPr>
              <a:t> Zone × Train Type Heatmap  +   Monthly Delay Trend</a:t>
            </a:r>
          </a:p>
          <a:p>
            <a:r>
              <a:rPr sz="1050" dirty="0">
                <a:solidFill>
                  <a:srgbClr val="E8891A"/>
                </a:solidFill>
                <a:latin typeface="Calibri"/>
              </a:rPr>
              <a:t>Structural zone-level disparities and seasonal delay cycles across the 2024 calendar</a:t>
            </a:r>
          </a:p>
        </p:txBody>
      </p:sp>
      <p:pic>
        <p:nvPicPr>
          <p:cNvPr id="5" name="Picture 4" descr="chart_g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0" y="640000"/>
            <a:ext cx="5300000" cy="2600000"/>
          </a:xfrm>
          <a:prstGeom prst="rect">
            <a:avLst/>
          </a:prstGeom>
        </p:spPr>
      </p:pic>
      <p:pic>
        <p:nvPicPr>
          <p:cNvPr id="6" name="Picture 5" descr="chart_g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00" y="3240000"/>
            <a:ext cx="8744000" cy="173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50000" y="560000"/>
            <a:ext cx="3294000" cy="2680000"/>
          </a:xfrm>
          <a:prstGeom prst="rect">
            <a:avLst/>
          </a:prstGeom>
          <a:solidFill>
            <a:srgbClr val="0D2040"/>
          </a:solidFill>
          <a:ln w="9525">
            <a:solidFill>
              <a:srgbClr val="E889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30000" y="640000"/>
            <a:ext cx="313400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E8891A"/>
                </a:solidFill>
                <a:latin typeface="Calibri"/>
              </a:rPr>
              <a:t>Insights</a:t>
            </a:r>
          </a:p>
          <a:p>
            <a:r>
              <a:rPr sz="950" dirty="0">
                <a:solidFill>
                  <a:srgbClr val="FFFFFF"/>
                </a:solidFill>
                <a:latin typeface="Calibri"/>
              </a:rPr>
              <a:t>▪  NCR &amp; ER zones are worst across ALL train types — systemic congestion, not train-specific issue</a:t>
            </a:r>
          </a:p>
          <a:p>
            <a:r>
              <a:rPr sz="950" dirty="0">
                <a:solidFill>
                  <a:srgbClr val="FFFFFF"/>
                </a:solidFill>
                <a:latin typeface="Calibri"/>
              </a:rPr>
              <a:t>▪  Vande Bharat stays &lt;6 min even in worst Northern zones — premium tracks + reserved boarding works</a:t>
            </a:r>
          </a:p>
          <a:p>
            <a:r>
              <a:rPr sz="950" dirty="0">
                <a:solidFill>
                  <a:srgbClr val="FFFFFF"/>
                </a:solidFill>
                <a:latin typeface="Calibri"/>
              </a:rPr>
              <a:t>▪  Passenger trains in NCR hit 28+ min — maximum halts + highest platform congestion exposure</a:t>
            </a:r>
          </a:p>
          <a:p>
            <a:r>
              <a:rPr sz="950" dirty="0">
                <a:solidFill>
                  <a:srgbClr val="FFFFFF"/>
                </a:solidFill>
                <a:latin typeface="Calibri"/>
              </a:rPr>
              <a:t>▪  Southern Railway (SR): only zone where every class stays under 12 min</a:t>
            </a:r>
          </a:p>
          <a:p>
            <a:r>
              <a:rPr sz="950" dirty="0">
                <a:solidFill>
                  <a:srgbClr val="FFFFFF"/>
                </a:solidFill>
                <a:latin typeface="Calibri"/>
              </a:rPr>
              <a:t>▪  G11 Monthly: Monsoon peak (Jul-Aug) at 17.5 min; Summer best (May) at 10.4 min</a:t>
            </a:r>
          </a:p>
          <a:p>
            <a:r>
              <a:rPr sz="950" dirty="0">
                <a:solidFill>
                  <a:srgbClr val="FFFFFF"/>
                </a:solidFill>
                <a:latin typeface="Calibri"/>
              </a:rPr>
              <a:t>▪  Winter fog effect visible: Jan-Feb elevated at 15-16 min despite lower passenger load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Trend Analysis 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trends, seasonality, weekday patterns and peak hour effects across the year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51560"/>
          <a:ext cx="53035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63016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Monthly Delay Trend (2024)</a:t>
            </a:r>
            <a:endParaRPr lang="en-US" sz="105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5715000" y="1051560"/>
          <a:ext cx="31546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5715000" y="363016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Delay by Scheduled Hour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74320" y="39044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Seasonal Delay Pattern: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74320" y="4187952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1F618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274320" y="422452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Winter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74320" y="446227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15.8 min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74320" y="47000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Fog-induced signal failures in Dec–Jan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1572768" y="4187952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1572768" y="422452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Summer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572768" y="446227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10.4 min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572768" y="47000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season — clear tracks, lower load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2871216" y="4187952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2871216" y="422452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Monsoon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2871216" y="446227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17.1 min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2871216" y="47000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delays: flooding, landslides, signal issues</a:t>
            </a:r>
            <a:endParaRPr lang="en-US" sz="700" dirty="0"/>
          </a:p>
        </p:txBody>
      </p:sp>
      <p:sp>
        <p:nvSpPr>
          <p:cNvPr id="23" name="Shape 19"/>
          <p:cNvSpPr/>
          <p:nvPr/>
        </p:nvSpPr>
        <p:spPr>
          <a:xfrm>
            <a:off x="4169664" y="4187952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F4C4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4169664" y="422452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Post-Monsoon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169664" y="446227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12.4 min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169664" y="47000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recovery after monsoon disruption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5715000" y="3904488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Hours (07–10, 17–20): </a:t>
            </a: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~15.5 min avg   vs   Off-peak: ~10.1 min avg — a 54% increase during rush windows. Overcrowding + platform congestion = cascading delays. Weekdays average 13.2 min vs Weekends 11.8 min (G13).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000"/>
          </a:xfrm>
          <a:prstGeom prst="rect">
            <a:avLst/>
          </a:prstGeom>
          <a:solidFill>
            <a:srgbClr val="E88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43500"/>
            <a:ext cx="9144000" cy="100000"/>
          </a:xfrm>
          <a:prstGeom prst="rect">
            <a:avLst/>
          </a:prstGeom>
          <a:solidFill>
            <a:srgbClr val="E88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10000"/>
            <a:ext cx="850000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FFFFFF"/>
                </a:solidFill>
                <a:latin typeface="Calibri"/>
              </a:rPr>
              <a:t> Weekday vs Weekend  +   Calendar Heatmap — 2024</a:t>
            </a:r>
          </a:p>
          <a:p>
            <a:r>
              <a:rPr sz="1050" dirty="0">
                <a:solidFill>
                  <a:srgbClr val="E8891A"/>
                </a:solidFill>
                <a:latin typeface="Calibri"/>
              </a:rPr>
              <a:t>Daily &amp; calendar-level temporal patterns reveal when delays cluster most severely</a:t>
            </a:r>
          </a:p>
        </p:txBody>
      </p:sp>
      <p:pic>
        <p:nvPicPr>
          <p:cNvPr id="5" name="Picture 4" descr="chart_g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0" y="677332"/>
            <a:ext cx="4350000" cy="2482667"/>
          </a:xfrm>
          <a:prstGeom prst="rect">
            <a:avLst/>
          </a:prstGeom>
        </p:spPr>
      </p:pic>
      <p:pic>
        <p:nvPicPr>
          <p:cNvPr id="6" name="Picture 5" descr="chart_g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0" y="833120"/>
            <a:ext cx="4260000" cy="23268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00000" y="3300000"/>
            <a:ext cx="4350000" cy="1700000"/>
          </a:xfrm>
          <a:prstGeom prst="rect">
            <a:avLst/>
          </a:prstGeom>
          <a:solidFill>
            <a:srgbClr val="0D2040"/>
          </a:solidFill>
          <a:ln w="9525">
            <a:solidFill>
              <a:srgbClr val="E889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0000" y="3380000"/>
            <a:ext cx="4190000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E8891A"/>
                </a:solidFill>
                <a:latin typeface="Calibri"/>
              </a:rPr>
              <a:t>— Weekday vs Weekend Insights</a:t>
            </a:r>
          </a:p>
          <a:p>
            <a:r>
              <a:rPr sz="950" dirty="0">
                <a:solidFill>
                  <a:srgbClr val="FFFFFF"/>
                </a:solidFill>
                <a:latin typeface="Calibri"/>
              </a:rPr>
              <a:t>▪  Weekdays avg 13.2 min vs Weekends 11.8 min — weekends 12% better</a:t>
            </a:r>
          </a:p>
          <a:p>
            <a:r>
              <a:rPr sz="950" dirty="0">
                <a:solidFill>
                  <a:srgbClr val="FFFFFF"/>
                </a:solidFill>
                <a:latin typeface="Calibri"/>
              </a:rPr>
              <a:t>▪  Fridays lowest weekday (13.0): fewer commuters, more flexible schedule</a:t>
            </a:r>
          </a:p>
          <a:p>
            <a:r>
              <a:rPr sz="950" dirty="0">
                <a:solidFill>
                  <a:srgbClr val="FFFFFF"/>
                </a:solidFill>
                <a:latin typeface="Calibri"/>
              </a:rPr>
              <a:t>▪  Weekend benefit: fewer freight-passenger conflicts &amp; reduced commuter crowding</a:t>
            </a:r>
          </a:p>
          <a:p>
            <a:r>
              <a:rPr sz="950" dirty="0">
                <a:solidFill>
                  <a:srgbClr val="FFFFFF"/>
                </a:solidFill>
                <a:latin typeface="Calibri"/>
              </a:rPr>
              <a:t>▪  Difference modest — operational infrastructure issues are not weekday-specific</a:t>
            </a:r>
          </a:p>
        </p:txBody>
      </p:sp>
      <p:sp>
        <p:nvSpPr>
          <p:cNvPr id="9" name="Rectangle 8"/>
          <p:cNvSpPr/>
          <p:nvPr/>
        </p:nvSpPr>
        <p:spPr>
          <a:xfrm>
            <a:off x="4680000" y="3300000"/>
            <a:ext cx="4260000" cy="1700000"/>
          </a:xfrm>
          <a:prstGeom prst="rect">
            <a:avLst/>
          </a:prstGeom>
          <a:solidFill>
            <a:srgbClr val="0D2040"/>
          </a:solidFill>
          <a:ln w="9525">
            <a:solidFill>
              <a:srgbClr val="E889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60000" y="3380000"/>
            <a:ext cx="4100000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E8891A"/>
                </a:solidFill>
                <a:latin typeface="Calibri"/>
              </a:rPr>
              <a:t>— Calendar Heatmap Insights</a:t>
            </a:r>
          </a:p>
          <a:p>
            <a:r>
              <a:rPr sz="950" dirty="0">
                <a:solidFill>
                  <a:srgbClr val="FFFFFF"/>
                </a:solidFill>
                <a:latin typeface="Calibri"/>
              </a:rPr>
              <a:t>▪  Monsoon months Jun-Sep glow deep red: consistent 18-24 min delays system-wide</a:t>
            </a:r>
          </a:p>
          <a:p>
            <a:r>
              <a:rPr sz="950" dirty="0">
                <a:solidFill>
                  <a:srgbClr val="FFFFFF"/>
                </a:solidFill>
                <a:latin typeface="Calibri"/>
              </a:rPr>
              <a:t>▪  Jan &amp; Dec show orange-red bands: winter fog causing signal failures in North India</a:t>
            </a:r>
          </a:p>
          <a:p>
            <a:r>
              <a:rPr sz="950" dirty="0">
                <a:solidFill>
                  <a:srgbClr val="FFFFFF"/>
                </a:solidFill>
                <a:latin typeface="Calibri"/>
              </a:rPr>
              <a:t>▪  March-May calendar predominantly yellow-green: clear weather, lowest system load</a:t>
            </a:r>
          </a:p>
          <a:p>
            <a:r>
              <a:rPr sz="950" dirty="0">
                <a:solidFill>
                  <a:srgbClr val="FFFFFF"/>
                </a:solidFill>
                <a:latin typeface="Calibri"/>
              </a:rPr>
              <a:t>▪  Individual high-delay days likely coincide with cyclone or flood events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2834640" y="548640"/>
            <a:ext cx="36576" cy="3840480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5486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08960" y="12801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Types &amp; Route Analysis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3108960" y="210312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trains perform best? Which routes are chronic offenders?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vs delay correlation and ridgeline profiling.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73" y="0"/>
            <a:ext cx="9144000" cy="914400"/>
          </a:xfrm>
          <a:prstGeom prst="rect">
            <a:avLst/>
          </a:prstGeom>
          <a:solidFill>
            <a:srgbClr val="0A193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Train Type &amp; Route Analysis 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vs general trains, top delayed/punctual routes, and the distance–delay relationship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51560"/>
          <a:ext cx="425196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858768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Top 8 Most Delayed Routes</a:t>
            </a:r>
            <a:endParaRPr lang="en-US" sz="105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4754880" y="1051560"/>
          <a:ext cx="411480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4754880" y="38587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Top 8 Most Punctual Routes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274320" y="4114800"/>
            <a:ext cx="4251960" cy="960120"/>
          </a:xfrm>
          <a:prstGeom prst="roundRect">
            <a:avLst>
              <a:gd name="adj" fmla="val 9524"/>
            </a:avLst>
          </a:prstGeom>
          <a:solidFill>
            <a:srgbClr val="132A4A"/>
          </a:solidFill>
          <a:ln w="6350">
            <a:solidFill>
              <a:srgbClr val="1C3D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594360" y="410565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— What makes routes chronically late?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11480" y="4352544"/>
            <a:ext cx="3977640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top-delayed routes originate or terminate in Delhi (NDLS) or Howrah (HWH) — the most congested interchanges.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NDLS–HWH corridor (28.4 min) spans North India's busiest rail belt — single-track sections create compounding bottlenecks.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G19 bubble chart shows only weak correlation between distance and delay — route structure matters more than length.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754880" y="411480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132A4A"/>
          </a:solidFill>
          <a:ln w="6350">
            <a:solidFill>
              <a:srgbClr val="1C3D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5029200" y="40782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Insight — Why South India routes perform better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92040" y="4343400"/>
            <a:ext cx="384048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Indian routes (MAS–SBC, BLR–HYD) average just 3–5 min — nearly 5× better than worst Northern routes.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track maintenance, fewer freight-passenger conflicts, and modern signalling in Southern Railway zone.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G20 ridgeline shows Vande Bharat and Rajdhani have the tightest delay distribution — low spread, low mean.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Station &amp; Map Analysis 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junctions are delay hotspots? Geographic spread across India and hierarchical zone breakdown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51560"/>
          <a:ext cx="425196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675888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8 Most Delayed Stations</a:t>
            </a:r>
            <a:endParaRPr lang="en-US" sz="105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4754880" y="1051560"/>
          <a:ext cx="411480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4754880" y="367588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8 Most Punctual Stations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274320" y="3932936"/>
            <a:ext cx="4251960" cy="1115568"/>
          </a:xfrm>
          <a:prstGeom prst="roundRect">
            <a:avLst>
              <a:gd name="adj" fmla="val 8197"/>
            </a:avLst>
          </a:prstGeom>
          <a:solidFill>
            <a:srgbClr val="132A4A"/>
          </a:solidFill>
          <a:ln w="6350">
            <a:solidFill>
              <a:srgbClr val="1C3D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548640" y="39547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Insights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11480" y="4229100"/>
            <a:ext cx="3977640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Kanpur Central (22.4 min) is the single worst junction — a critical interchange point on the Howrah–Delhi main line with severe platform congestion.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(G23) shows Arrival–Departure delay correlation is ~0.85 (very strong) — station delays almost always propagate to next departure.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G24 Folium map revealed a geographic cluster of red circles (20+ min) in the Gangetic plain (UP, Bihar).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754880" y="3932936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132A4A"/>
          </a:solidFill>
          <a:ln w="6350">
            <a:solidFill>
              <a:srgbClr val="1C3D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4959773" y="39547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Insights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92040" y="4184396"/>
            <a:ext cx="3840480" cy="762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Central (3.4 min) is the most punctual major junction — Southern Railway's operational excellence is reflected in station-level data.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G25 Sunburst hierarchy: Region → Zone → Train Type. South + Vande Bharat/Rajdhani = lowest delay. North + Passenger = highest delay — hierarchical confirmation of earlier findings.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000"/>
          </a:xfrm>
          <a:prstGeom prst="rect">
            <a:avLst/>
          </a:prstGeom>
          <a:solidFill>
            <a:srgbClr val="E88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43500"/>
            <a:ext cx="9144000" cy="100000"/>
          </a:xfrm>
          <a:prstGeom prst="rect">
            <a:avLst/>
          </a:prstGeom>
          <a:solidFill>
            <a:srgbClr val="E88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10000"/>
            <a:ext cx="850000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FFFFFF"/>
                </a:solidFill>
                <a:latin typeface="Calibri"/>
              </a:rPr>
              <a:t>Correlation Matrix — Numeric Feature Relationships</a:t>
            </a:r>
          </a:p>
          <a:p>
            <a:r>
              <a:rPr sz="1050" dirty="0">
                <a:solidFill>
                  <a:srgbClr val="E8891A"/>
                </a:solidFill>
                <a:latin typeface="Calibri"/>
              </a:rPr>
              <a:t>Lower-triangular Pearson r matrix across all key numeric variables in the cleaned dataset</a:t>
            </a:r>
          </a:p>
        </p:txBody>
      </p:sp>
      <p:pic>
        <p:nvPicPr>
          <p:cNvPr id="5" name="Picture 4" descr="chart_g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0" y="711200"/>
            <a:ext cx="5100000" cy="4248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500000" y="560000"/>
            <a:ext cx="3444000" cy="4400000"/>
          </a:xfrm>
          <a:prstGeom prst="rect">
            <a:avLst/>
          </a:prstGeom>
          <a:solidFill>
            <a:srgbClr val="0D2040"/>
          </a:solidFill>
          <a:ln w="9525">
            <a:solidFill>
              <a:srgbClr val="E889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80000" y="640000"/>
            <a:ext cx="3284000" cy="4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8891A"/>
                </a:solidFill>
                <a:latin typeface="Calibri"/>
              </a:rPr>
              <a:t>Correlation Matrix Insights</a:t>
            </a:r>
          </a:p>
          <a:p>
            <a:r>
              <a:rPr sz="950">
                <a:solidFill>
                  <a:srgbClr val="FFFFFF"/>
                </a:solidFill>
                <a:latin typeface="Calibri"/>
              </a:rPr>
              <a:t>▪  Arr ↔ Dep Delay: r = 0.85 (very strong) — confirms delay cascade mechanism</a:t>
            </a:r>
          </a:p>
          <a:p>
            <a:r>
              <a:rPr sz="950">
                <a:solidFill>
                  <a:srgbClr val="FFFFFF"/>
                </a:solidFill>
                <a:latin typeface="Calibri"/>
              </a:rPr>
              <a:t>▪  Pct_OnTime ↔ Punct_Score: r = 0.94 — engineered features are consistent &amp; valid</a:t>
            </a:r>
          </a:p>
          <a:p>
            <a:r>
              <a:rPr sz="950">
                <a:solidFill>
                  <a:srgbClr val="FFFFFF"/>
                </a:solidFill>
                <a:latin typeface="Calibri"/>
              </a:rPr>
              <a:t>▪  Arr Delay ↔ Pct_OnTime: r = -0.52 — moderate negative (worse delay = less on-time)</a:t>
            </a:r>
          </a:p>
          <a:p>
            <a:r>
              <a:rPr sz="950">
                <a:solidFill>
                  <a:srgbClr val="FFFFFF"/>
                </a:solidFill>
                <a:latin typeface="Calibri"/>
              </a:rPr>
              <a:t>▪  Sched_Hour ↔ Is_Peak_Hour: r = 0.62 — expected: peak is defined from hour window</a:t>
            </a:r>
          </a:p>
          <a:p>
            <a:r>
              <a:rPr sz="950">
                <a:solidFill>
                  <a:srgbClr val="FFFFFF"/>
                </a:solidFill>
                <a:latin typeface="Calibri"/>
              </a:rPr>
              <a:t>▪  Distance_KM ↔ Arr Delay: r = 0.12 only — distance is a poor delay predictor</a:t>
            </a:r>
          </a:p>
          <a:p>
            <a:r>
              <a:rPr sz="950">
                <a:solidFill>
                  <a:srgbClr val="FFFFFF"/>
                </a:solidFill>
                <a:latin typeface="Calibri"/>
              </a:rPr>
              <a:t>▪  Is_Weekend correlates near-zero with most features — weekend effect is modest</a:t>
            </a:r>
          </a:p>
          <a:p>
            <a:r>
              <a:rPr sz="950">
                <a:solidFill>
                  <a:srgbClr val="FFFFFF"/>
                </a:solidFill>
                <a:latin typeface="Calibri"/>
              </a:rPr>
              <a:t>▪  No severe multicollinearity among predictors — linear regression assumptions satisfied</a:t>
            </a:r>
          </a:p>
          <a:p>
            <a:r>
              <a:rPr sz="950">
                <a:solidFill>
                  <a:srgbClr val="FFFFFF"/>
                </a:solidFill>
                <a:latin typeface="Calibri"/>
              </a:rPr>
              <a:t>▪  Strong r = 0.85 between arrival/departure validates using both as outcome variables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2834640" y="548640"/>
            <a:ext cx="36576" cy="3840480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5486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08960" y="12801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Testing &amp;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Validation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3108960" y="210312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beyond visuals — hypothesis testing confirms findings are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real, not sampling artifacts.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Descriptive Statistics &amp; Distribution Shape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the distributional properties of all key numeric features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51560"/>
          <a:ext cx="52120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408736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Arrival Delay Distribution — Positively Skewed</a:t>
            </a:r>
            <a:endParaRPr lang="en-US" sz="10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051560"/>
          <a:ext cx="3291840" cy="2194560"/>
        </p:xfrm>
        <a:graphic>
          <a:graphicData uri="http://schemas.openxmlformats.org/drawingml/2006/table">
            <a:tbl>
              <a:tblPr/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Arr. Delay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Dep. Delay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KM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Eff.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9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889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487 km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889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412 km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889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889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889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Kurtosis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577840" y="3291840"/>
            <a:ext cx="3291840" cy="530352"/>
          </a:xfrm>
          <a:prstGeom prst="roundRect">
            <a:avLst>
              <a:gd name="adj" fmla="val 13793"/>
            </a:avLst>
          </a:prstGeom>
          <a:solidFill>
            <a:srgbClr val="132A4A"/>
          </a:solidFill>
          <a:ln w="10160">
            <a:solidFill>
              <a:srgbClr val="E889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6"/>
          <p:cNvSpPr/>
          <p:nvPr/>
        </p:nvSpPr>
        <p:spPr>
          <a:xfrm>
            <a:off x="5669280" y="332841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Skewness = 2.84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669280" y="35295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right skew means the mean (14.2 min) significantly overstates the typical passenger experience. The median (7.8 min) is the honest headline number.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5577840" y="3867912"/>
            <a:ext cx="3291840" cy="530352"/>
          </a:xfrm>
          <a:prstGeom prst="roundRect">
            <a:avLst>
              <a:gd name="adj" fmla="val 13793"/>
            </a:avLst>
          </a:prstGeom>
          <a:solidFill>
            <a:srgbClr val="132A4A"/>
          </a:solidFill>
          <a:ln w="10160">
            <a:solidFill>
              <a:srgbClr val="E889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5669280" y="39044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Kurtosis = 9.12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669280" y="410565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kurtosis (leptokurtic) = heavy tails. Rare but extreme delay events (&gt;60 min) are far more common than a normal distribution would predict.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5577840" y="4443984"/>
            <a:ext cx="3291840" cy="530352"/>
          </a:xfrm>
          <a:prstGeom prst="roundRect">
            <a:avLst>
              <a:gd name="adj" fmla="val 13793"/>
            </a:avLst>
          </a:prstGeom>
          <a:solidFill>
            <a:srgbClr val="132A4A"/>
          </a:solidFill>
          <a:ln w="10160">
            <a:solidFill>
              <a:srgbClr val="E889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5669280" y="44805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&gt; Median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669280" y="46817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of 6.4 min between mean and median confirms data is non-normal — justifies choice of Kruskal-Wallis (non-parametric) over standard ANOVA in Phase 3.</a:t>
            </a:r>
            <a:endParaRPr lang="en-US" sz="850" dirty="0"/>
          </a:p>
        </p:txBody>
      </p:sp>
      <p:sp>
        <p:nvSpPr>
          <p:cNvPr id="8" name="Shape 14"/>
          <p:cNvSpPr/>
          <p:nvPr/>
        </p:nvSpPr>
        <p:spPr>
          <a:xfrm>
            <a:off x="274320" y="4343400"/>
            <a:ext cx="5212080" cy="713232"/>
          </a:xfrm>
          <a:prstGeom prst="roundRect">
            <a:avLst>
              <a:gd name="adj" fmla="val 12821"/>
            </a:avLst>
          </a:prstGeom>
          <a:solidFill>
            <a:srgbClr val="132A4A"/>
          </a:solidFill>
          <a:ln w="6350">
            <a:solidFill>
              <a:srgbClr val="1C3D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472440" y="4321217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Skewness Matters for This Study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11480" y="4576572"/>
            <a:ext cx="49377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Non-normal delay data means standard t-tests / ANOVA are inappropriate. The project correctly uses Kruskal-Wallis (non-parametric) to compare regions.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experience the median (7.8 min), not the mean (14.2 min). Policy should target the long tail — the 8% of severe delays (&gt;60 min) that inflate statistics.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Kruskal-Wallis H-Test: Regional Delay Differences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delay distribution statistically different across regions, or is it just sampling noise?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868680"/>
          </a:xfrm>
          <a:prstGeom prst="roundRect">
            <a:avLst>
              <a:gd name="adj" fmla="val 10526"/>
            </a:avLst>
          </a:prstGeom>
          <a:solidFill>
            <a:srgbClr val="132A4A"/>
          </a:solidFill>
          <a:ln w="12700">
            <a:solidFill>
              <a:srgbClr val="E889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(Null Hypothesis): </a:t>
            </a: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distribution of Arrival_Delay_Min is identical across all regions.    </a:t>
            </a:r>
            <a:r>
              <a:rPr lang="en-US" sz="1100" b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(Alternative): </a:t>
            </a: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region has a significantly different delay distribution.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132A4A"/>
          </a:solidFill>
          <a:ln w="15240">
            <a:solidFill>
              <a:srgbClr val="E889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74320" y="2084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234086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Kruskal-Wallis 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" y="27797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 — correct for skewed data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23160" y="201168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132A4A"/>
          </a:solidFill>
          <a:ln w="15240">
            <a:solidFill>
              <a:srgbClr val="E889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423160" y="2084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H-Statistic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23160" y="234086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2,847.3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23160" y="27797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large — strong group separation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0" y="201168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132A4A"/>
          </a:solidFill>
          <a:ln w="15240">
            <a:solidFill>
              <a:srgbClr val="E889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72000" y="2084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0" y="234086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0.001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27797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≪ α=0.05 → Reject H₀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20840" y="201168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132A4A"/>
          </a:solidFill>
          <a:ln w="15240">
            <a:solidFill>
              <a:srgbClr val="27AE6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720840" y="2084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20840" y="234086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REJECT H₀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20840" y="27797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differences are REAL</a:t>
            </a:r>
            <a:endParaRPr lang="en-US" sz="85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274320" y="3429000"/>
          <a:ext cx="493776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hape 22"/>
          <p:cNvSpPr/>
          <p:nvPr/>
        </p:nvSpPr>
        <p:spPr>
          <a:xfrm>
            <a:off x="5349240" y="342900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32A4A"/>
          </a:solidFill>
          <a:ln w="15240">
            <a:solidFill>
              <a:srgbClr val="27AE6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3547872"/>
            <a:ext cx="384048" cy="38404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989320" y="35478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Conclusion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532120" y="3913632"/>
            <a:ext cx="3246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delay differences are statistically real — not sampling noise.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&amp; Eastern zones run significantly worse than Southern zones. Infrastructure investment, track quality and congestion — not random chance — explain the 2× delay gap between North and South.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validates every regional bar chart in Phase 2.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Chi-Square + Linear Regression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between train type &amp; delay category, and modelling what drives delay magnitude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297680" cy="3977640"/>
          </a:xfrm>
          <a:prstGeom prst="roundRect">
            <a:avLst>
              <a:gd name="adj" fmla="val 2299"/>
            </a:avLst>
          </a:prstGeom>
          <a:solidFill>
            <a:srgbClr val="132A4A"/>
          </a:solidFill>
          <a:ln w="10160">
            <a:solidFill>
              <a:srgbClr val="E889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3 · Chi-Square of Independence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Train_Type × Delay_Category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64208"/>
            <a:ext cx="3931920" cy="347472"/>
          </a:xfrm>
          <a:prstGeom prst="rect">
            <a:avLst/>
          </a:prstGeom>
          <a:solidFill>
            <a:srgbClr val="1C3D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48640" y="16642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Statistic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834640" y="16642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3,214.7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048256"/>
            <a:ext cx="3931920" cy="347472"/>
          </a:xfrm>
          <a:prstGeom prst="rect">
            <a:avLst/>
          </a:prstGeom>
          <a:solidFill>
            <a:srgbClr val="13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48640" y="20482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Freedom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834640" y="20482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432304"/>
            <a:ext cx="3931920" cy="347472"/>
          </a:xfrm>
          <a:prstGeom prst="rect">
            <a:avLst/>
          </a:prstGeom>
          <a:solidFill>
            <a:srgbClr val="1C3D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48640" y="24323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834640" y="243230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0.001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816352"/>
            <a:ext cx="3931920" cy="347472"/>
          </a:xfrm>
          <a:prstGeom prst="rect">
            <a:avLst/>
          </a:prstGeom>
          <a:solidFill>
            <a:srgbClr val="13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48640" y="28163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Cramér's V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834640" y="28163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0.34 (medium)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3931920" cy="347472"/>
          </a:xfrm>
          <a:prstGeom prst="rect">
            <a:avLst/>
          </a:prstGeom>
          <a:solidFill>
            <a:srgbClr val="1C3D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48640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834640" y="3200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 H₀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657600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means: </a:t>
            </a: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type and delay category are NOT independent. Vande Bharat/Rajdhani have a fundamentally different on-time profile than Passenger trains. Cramér's V = 0.34 confirms a medium-strength practical effect — meaningful, not just statistically significant.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1051560"/>
            <a:ext cx="4069080" cy="3977640"/>
          </a:xfrm>
          <a:prstGeom prst="roundRect">
            <a:avLst>
              <a:gd name="adj" fmla="val 2299"/>
            </a:avLst>
          </a:prstGeom>
          <a:solidFill>
            <a:srgbClr val="132A4A"/>
          </a:solidFill>
          <a:ln w="10160">
            <a:solidFill>
              <a:srgbClr val="E889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983480" y="11155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4 · Linear Regression Model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1389888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Arrival_Delay_Min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83480" y="1664208"/>
            <a:ext cx="3703320" cy="347472"/>
          </a:xfrm>
          <a:prstGeom prst="rect">
            <a:avLst/>
          </a:prstGeom>
          <a:solidFill>
            <a:srgbClr val="1C3D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074920" y="16642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(test set)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269480" y="16642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0.124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983480" y="2048256"/>
            <a:ext cx="3703320" cy="347472"/>
          </a:xfrm>
          <a:prstGeom prst="rect">
            <a:avLst/>
          </a:prstGeom>
          <a:solidFill>
            <a:srgbClr val="13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074920" y="20482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(test)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269480" y="204825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11.8 min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83480" y="2432304"/>
            <a:ext cx="3703320" cy="347472"/>
          </a:xfrm>
          <a:prstGeom prst="rect">
            <a:avLst/>
          </a:prstGeom>
          <a:solidFill>
            <a:srgbClr val="1C3D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5074920" y="24323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269480" y="243230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983480" y="2816352"/>
            <a:ext cx="3703320" cy="347472"/>
          </a:xfrm>
          <a:prstGeom prst="rect">
            <a:avLst/>
          </a:prstGeom>
          <a:solidFill>
            <a:srgbClr val="13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5074920" y="28163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Distance_KM coeff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269480" y="281635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+0.012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983480" y="3200400"/>
            <a:ext cx="3703320" cy="347472"/>
          </a:xfrm>
          <a:prstGeom prst="rect">
            <a:avLst/>
          </a:prstGeom>
          <a:solidFill>
            <a:srgbClr val="1C3D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074920" y="32004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Is_Peak_Hour coeff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269480" y="32004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+3.64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983480" y="3584448"/>
            <a:ext cx="3703320" cy="347472"/>
          </a:xfrm>
          <a:prstGeom prst="rect">
            <a:avLst/>
          </a:prstGeom>
          <a:solidFill>
            <a:srgbClr val="13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5074920" y="35844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Season_Monsoon coeff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269480" y="358444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+4.21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983480" y="3977640"/>
            <a:ext cx="3703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insight (R² = 0.124): </a:t>
            </a: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Distance, peak-hour, weekend and season together explain only 12.4% of delay variance. This is itself the key finding — most delay is driven by unobserved factors: signal failures, cascading knock-ons, weather events. Infrastructure + operations dominate, not the schedule itself.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Delay Hotspots — Folium Interactive 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delays cluster: Ganga belt vs Southern &amp; Western corridors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0"/>
            <a:ext cx="5852160" cy="3794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0" y="1097280"/>
            <a:ext cx="2697480" cy="3794760"/>
          </a:xfrm>
          <a:prstGeom prst="roundRect">
            <a:avLst>
              <a:gd name="adj" fmla="val 4068"/>
            </a:avLst>
          </a:prstGeom>
          <a:solidFill>
            <a:srgbClr val="132A4A"/>
          </a:solidFill>
          <a:ln w="10160">
            <a:solidFill>
              <a:srgbClr val="E889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6355080" y="1170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Insights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355080" y="1481328"/>
            <a:ext cx="24688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cluster along the Ganga belt (UP + Bihar) — 6 of 8 worst stations sit within 800 km.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Kanpur–Mughal Sarai–Patna corridor is the single densest congestion zone in the network.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cluster in South &amp; West: Chennai, Bengaluru, Mysuru, Mumbai, Pune all under 6 min.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is an isolated Northeast hotspot — flood-prone, single-track approach.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confirms Kruskal-Wallis: delay is regional, not random.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 → Zone → Train Type — Plotly Sunburst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breakdown of delay across the entire operational structure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0"/>
            <a:ext cx="4937760" cy="3794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40680" y="1097280"/>
            <a:ext cx="3474720" cy="3794760"/>
          </a:xfrm>
          <a:prstGeom prst="roundRect">
            <a:avLst>
              <a:gd name="adj" fmla="val 3158"/>
            </a:avLst>
          </a:prstGeom>
          <a:solidFill>
            <a:srgbClr val="132A4A"/>
          </a:solidFill>
          <a:ln w="10160">
            <a:solidFill>
              <a:srgbClr val="F4C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5577840" y="11704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Hierarchy Reveals the Full Story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77840" y="1481328"/>
            <a:ext cx="32461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ring (Region): Northern &amp; Eastern segments blaze orange-red; Southern glows green.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ring (Zone): NCR &amp; ECR are the deepest-red zones — schedule stress + congestion.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ring (Train Type): Vande Bharat &amp; Rajdhani stay green across every region.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trains consistently darkest — no reserved boarding, most halts.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Railway (SR) is the only zone where every train class stays under 12 min.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Chi-square (p &lt; 0.001): train type × zone interaction is real and structural.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— 6 Actionable Insights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takeaways from 55,000 records, 25 visualizations and 3 statistical tests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724912" cy="1828800"/>
          </a:xfrm>
          <a:prstGeom prst="roundRect">
            <a:avLst>
              <a:gd name="adj" fmla="val 6000"/>
            </a:avLst>
          </a:prstGeom>
          <a:solidFill>
            <a:srgbClr val="132A4A"/>
          </a:solidFill>
          <a:ln w="12700">
            <a:solidFill>
              <a:srgbClr val="E889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84048" y="114300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456" y="11430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84048" y="1527048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Disparity is Real (p &lt; 0.001)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84048" y="2002536"/>
            <a:ext cx="2505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zones average 17.8 min delay vs Southern zones at 8.2 min — a 2× gap confirmed by Kruskal-Wallis. Delhi–Kanpur–Howrah corridor is the single biggest bottleneck.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136392" y="1051560"/>
            <a:ext cx="2724912" cy="1828800"/>
          </a:xfrm>
          <a:prstGeom prst="roundRect">
            <a:avLst>
              <a:gd name="adj" fmla="val 6000"/>
            </a:avLst>
          </a:prstGeom>
          <a:solidFill>
            <a:srgbClr val="132A4A"/>
          </a:solidFill>
          <a:ln w="12700">
            <a:solidFill>
              <a:srgbClr val="E889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3246120" y="114300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528" y="11430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46120" y="1527048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Monsoon = Delay Season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246120" y="2002536"/>
            <a:ext cx="2505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Jun–Sep delays spike to 17.1 min avg (from 10.4 min in Summer). Flood-prone tracks in UP, Bihar and Northeast need infrastructure-priority investment.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998464" y="1051560"/>
            <a:ext cx="2724912" cy="1828800"/>
          </a:xfrm>
          <a:prstGeom prst="roundRect">
            <a:avLst>
              <a:gd name="adj" fmla="val 6000"/>
            </a:avLst>
          </a:prstGeom>
          <a:solidFill>
            <a:srgbClr val="132A4A"/>
          </a:solidFill>
          <a:ln w="12700">
            <a:solidFill>
              <a:srgbClr val="E889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6108192" y="114300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1430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08192" y="1527048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Trains Outperform 4×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108192" y="2002536"/>
            <a:ext cx="2505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Vande Bharat (4.2 min) vs Passenger trains (18.9 min). Fewer halts + reserved boarding + dedicated tracks explain the premium advantage. Chi-square confirms it's not chance.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274320" y="3017520"/>
            <a:ext cx="2724912" cy="1828800"/>
          </a:xfrm>
          <a:prstGeom prst="roundRect">
            <a:avLst>
              <a:gd name="adj" fmla="val 6000"/>
            </a:avLst>
          </a:prstGeom>
          <a:solidFill>
            <a:srgbClr val="132A4A"/>
          </a:solidFill>
          <a:ln w="12700">
            <a:solidFill>
              <a:srgbClr val="E889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17"/>
          <p:cNvSpPr/>
          <p:nvPr/>
        </p:nvSpPr>
        <p:spPr>
          <a:xfrm>
            <a:off x="384048" y="3108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5456" y="310896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84048" y="3493008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Peak Hours Cost +54% More Delay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384048" y="3968496"/>
            <a:ext cx="2505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in 7–10 AM and 5–8 PM windows average 15.5 min vs 10.1 min off-peak. Platform congestion and crew handovers during rush create cascading delays.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3136392" y="3017520"/>
            <a:ext cx="2724912" cy="1828800"/>
          </a:xfrm>
          <a:prstGeom prst="roundRect">
            <a:avLst>
              <a:gd name="adj" fmla="val 6000"/>
            </a:avLst>
          </a:prstGeom>
          <a:solidFill>
            <a:srgbClr val="132A4A"/>
          </a:solidFill>
          <a:ln w="12700">
            <a:solidFill>
              <a:srgbClr val="E889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1"/>
          <p:cNvSpPr/>
          <p:nvPr/>
        </p:nvSpPr>
        <p:spPr>
          <a:xfrm>
            <a:off x="3246120" y="3108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7528" y="310896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246120" y="3493008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≠ Delay (Weak Correlation)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3246120" y="3968496"/>
            <a:ext cx="2505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G19 bubble chart and regression (Distance_KM coeff = +0.012) show distance barely predicts delay. Route structure, track quality and station management matter far more.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5998464" y="3017520"/>
            <a:ext cx="2724912" cy="1828800"/>
          </a:xfrm>
          <a:prstGeom prst="roundRect">
            <a:avLst>
              <a:gd name="adj" fmla="val 6000"/>
            </a:avLst>
          </a:prstGeom>
          <a:solidFill>
            <a:srgbClr val="132A4A"/>
          </a:solidFill>
          <a:ln w="12700">
            <a:solidFill>
              <a:srgbClr val="E889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25"/>
          <p:cNvSpPr/>
          <p:nvPr/>
        </p:nvSpPr>
        <p:spPr>
          <a:xfrm>
            <a:off x="6108192" y="3108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3108960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108192" y="3493008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Drive Delays, Not Schedules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6108192" y="3968496"/>
            <a:ext cx="2505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 R² = 0.124 — schedule features explain only 12.4% of delay. The remaining 87.6% = unobserved infrastructure failures, signal issues and cascading knock-ons.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E8891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47472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347472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280160" y="9144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E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Akhil Bedi  ·  B.Tech CSE (Data Science)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19" y="1280160"/>
            <a:ext cx="8595361" cy="2468880"/>
          </a:xfrm>
          <a:prstGeom prst="roundRect">
            <a:avLst>
              <a:gd name="adj" fmla="val 4444"/>
            </a:avLst>
          </a:prstGeom>
          <a:solidFill>
            <a:srgbClr val="132A4A"/>
          </a:solidFill>
          <a:ln w="10160">
            <a:solidFill>
              <a:srgbClr val="E889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457200" y="13716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88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Delivered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691640"/>
            <a:ext cx="3886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55,008 records cleaned through 8-step pipeline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new engineered features (Route_Efficiency, On_Time_Flag, etc.)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visualizations across 6 analytical groups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Kruskal-Wallis: regional disparity confirmed (p &lt; 0.001)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Chi-square: train type dependency confirmed (p &lt; 0.001)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 R²=0.124 reveals operational roots of delay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Folium map + Plotly Sunburst for deep dives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3776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37760" y="1691640"/>
            <a:ext cx="3749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74320" y="3822192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1C3D5E"/>
          </a:solidFill>
          <a:ln w="10160">
            <a:solidFill>
              <a:srgbClr val="E889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457200" y="39136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</a:rPr>
              <a:t>THANK YOU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5537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8E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Akhil Bedi, B.Tech CSE (Data Science)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3368</Words>
  <Application>Microsoft Office PowerPoint</Application>
  <PresentationFormat>On-screen Show (16:9)</PresentationFormat>
  <Paragraphs>395</Paragraphs>
  <Slides>27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Punctuality of Indian Railways</dc:title>
  <dc:subject>PptxGenJS Presentation</dc:subject>
  <dc:creator>Akhil Bedi</dc:creator>
  <cp:lastModifiedBy>akhil singh</cp:lastModifiedBy>
  <cp:revision>26</cp:revision>
  <dcterms:created xsi:type="dcterms:W3CDTF">2026-07-03T15:58:28Z</dcterms:created>
  <dcterms:modified xsi:type="dcterms:W3CDTF">2026-07-04T07:18:55Z</dcterms:modified>
</cp:coreProperties>
</file>